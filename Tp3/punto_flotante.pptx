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Finita 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6916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Reales en Punto Flotante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0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1.C · Control y Sistemas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Ing. Hernán Garrido — FING-UNCUYO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0 1 0 0 0 0 0 0   0 1 1 0 0 1 1 0   0 1 1 1 0 1 0 1   0 0 1 1 0 1 1 1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869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en punto flotante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científica, signo, exponente, mantisa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4114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IEEE 754-2008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6733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Formatos: half, single, double, quad precision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020824"/>
            <a:ext cx="4114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20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0391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Normalizada y denormalizada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24942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oculto, valores normales y subnormales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596896"/>
            <a:ext cx="4114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61518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especiales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82549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±0, ±Inf, NaN y sus condiciones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172968"/>
            <a:ext cx="4114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19125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de redondeo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ulp, eps, truncado, al más próximo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4114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37673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dinámico y precisión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9776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con punto fijo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325112"/>
            <a:ext cx="4114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325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3434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455371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Absorción, cancelación, pérdida de significancia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Representación en Punto Flotante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(−1)^S  ·  s  ·  B^e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920240" cy="4572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de signo (0 = positivo, 1 = negativo)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920240"/>
            <a:ext cx="1920240" cy="457200"/>
          </a:xfrm>
          <a:prstGeom prst="rect">
            <a:avLst/>
          </a:prstGeom>
          <a:solidFill>
            <a:srgbClr val="12B5C9"/>
          </a:solidFill>
          <a:ln w="12700">
            <a:solidFill>
              <a:srgbClr val="12B5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Mantisa o significando — fracción normalizada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192024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Exponente sesgado (con bias)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920240"/>
            <a:ext cx="1920240" cy="457200"/>
          </a:xfrm>
          <a:prstGeom prst="rect">
            <a:avLst/>
          </a:prstGeom>
          <a:solidFill>
            <a:srgbClr val="D0D9E4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10 (decimal) o 2 (binario)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8412480" cy="685800"/>
          </a:xfrm>
          <a:prstGeom prst="rect">
            <a:avLst/>
          </a:prstGeom>
          <a:solidFill>
            <a:srgbClr val="EAF6FA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54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notación científica decimal: 3.215 × 10³  ←  mismo concepto, base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IEEE 754 (binario):  1.0110 × 2¹²  ←  base 2, bit oculto implícito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'flota' porque el exponente ajusta automáticamente la posición del punto decimal → auto-rango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Estándar IEEE 754-2008 — Estructura de bits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0" cy="6400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1645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" y="960120"/>
            <a:ext cx="2377440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960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(8 bits)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Exponente sesgado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= 127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960120"/>
            <a:ext cx="5303520" cy="6400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960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— Mantisa (23 bits)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645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Fracción del significando (+ 1 bit oculto implícito = 24 bits efectivos)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860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= (−1)^S · 1.T · 2^(E − 127)    [para E normal: 1 ≤ E ≤ 254]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8412480" cy="173736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737360"/>
                <a:gridCol w="173736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Parámetro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Half (16b)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Single (32b)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Double (64b)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Quad (128b)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Precisión (p)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10 + 1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E8C"/>
                          </a:solidFill>
                        </a:rPr>
                        <a:t>23 + 1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52 + 1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112 + 1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e_max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+15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E8C"/>
                          </a:solidFill>
                        </a:rPr>
                        <a:t>+127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+1023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+16383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e_min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−14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E8C"/>
                          </a:solidFill>
                        </a:rPr>
                        <a:t>−126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−1022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−16382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Bits exponente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E8C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Representación Normalizada y Denormalizada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97764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   (E &gt; 0 y E &lt; 255)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oculto implícito = 1
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1.T = 1 + T₂₂·2⁻¹ + ... + T₀·2⁻²³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= (−1)^S · 1.T · 2^(E−127)
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Representación única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Multiplicar/dividir por 2: sumar/restar 1 al exponente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Rango:  ≈ ±1.18×10⁻³⁸  hasta  ≈ ±3.40×10³⁸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397764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822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DENORMALIZADO   (E = 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801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oculto implícito = 0
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0.T = 0 + T₂₂·2⁻¹ + ... + T₀·2⁻²³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= (−1)^S · 0.T · 2^(−126)
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Permite representar el cero (T =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Gradual underflow: números muy pequeños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Exponente fijo en −126 → representación única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291840"/>
            <a:ext cx="8503920" cy="36576"/>
          </a:xfrm>
          <a:prstGeom prst="rect">
            <a:avLst/>
          </a:prstGeom>
          <a:solidFill>
            <a:srgbClr val="D0D9E4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" y="3236976"/>
            <a:ext cx="18288" cy="1463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3401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−N_max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62456" y="3236976"/>
            <a:ext cx="18288" cy="1463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401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−N_min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48456" y="3236976"/>
            <a:ext cx="18288" cy="1463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401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−D_max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62856" y="3236976"/>
            <a:ext cx="18288" cy="1463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401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77256" y="3236976"/>
            <a:ext cx="18288" cy="1463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3401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+D_max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0376" y="3236976"/>
            <a:ext cx="18288" cy="1463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3401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+N_min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14816" y="3236976"/>
            <a:ext cx="18288" cy="1463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3401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+N_max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3246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zona denormalizada 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85039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404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1101.01₂ = 1.10101₂ × 2³  →  normalizar = desplazar punto hasta que quede 1 antes del punto, ajustar exponente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Números Especiales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3657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  Cero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00000000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 (S=0) o −0 (S=1)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son iguales: (+0 == −0) =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de underflow o división de signo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256032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249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MATLAB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0 * (-1)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822960"/>
            <a:ext cx="2651760" cy="3657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822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±Inf  Infinito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54680" y="118872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261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11111111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1508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8105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+Inf (S=0) o −Inf (S=1)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Desbordamiento del exponente (overflow)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1/0 = +Inf  |  −1/0 = −Inf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2697480"/>
            <a:ext cx="256032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7249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MATLAB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1/0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exp(1000)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9320" y="822960"/>
            <a:ext cx="2651760" cy="3657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822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 No-número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89320" y="118872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261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11111111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80760" y="1508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≠ 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18105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operación indefinida.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≠ NaN  (¡propiedad única!)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comparar directamente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697480"/>
            <a:ext cx="256032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7249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MATLAB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0/0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Inf/Inf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85039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5760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rápida: E = 0 → subnormal o cero.  E = 255 (0xFF) → infinito o NaN.  1 ≤ E ≤ 254 → número normal.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09651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es el único valor que no es igual a sí mismo:  isnan(x) es la única forma segura de detectarlo.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Esquemas de Redondeo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640080"/>
          </a:xfrm>
          <a:prstGeom prst="rect">
            <a:avLst/>
          </a:prstGeom>
          <a:solidFill>
            <a:srgbClr val="EAF6FA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5039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ulp(x)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f″ − f′  (tamaño del escalón entre dos flotantes consecutivos f′ ≤ x ≤ f″)    |    </a:t>
            </a:r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eps(x)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f″ − |x|  (distancia al siguiente flotante)
</a:t>
            </a:r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eps()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MATLAB ≈ 2.22×10⁻¹⁶  (precisión relativa de double, ≈ ulp(1))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4160520" cy="34747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Truncado (hacia 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476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round(x) = f′ si x &gt; 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round(x) = f″ si x &lt; 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reduce el valor absoluto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160520" cy="347472"/>
          </a:xfrm>
          <a:prstGeom prst="rect">
            <a:avLst/>
          </a:prstGeom>
          <a:solidFill>
            <a:srgbClr val="E8F8FA"/>
          </a:solidFill>
          <a:ln w="12700">
            <a:solidFill>
              <a:srgbClr val="E8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002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+∞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9476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round(x) = f″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 — siempre sobrestima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160520" cy="347472"/>
          </a:xfrm>
          <a:prstGeom prst="rect">
            <a:avLst/>
          </a:prstGeom>
          <a:solidFill>
            <a:srgbClr val="EAF6EA"/>
          </a:solidFill>
          <a:ln w="12700">
            <a:solidFill>
              <a:srgbClr val="EAF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63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−∞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41071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472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round(x) = f′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— siempre subestima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16052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063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más próximo 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341071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4472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round(x) = f′  si  x &lt; f′ + ulp/2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round(x) = f″  si  x ≥ f′ + ulp/2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IEEE 754. Minimiza error esperado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Rango Dinámico y Precisión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DR_dB = 20 · log₁₀( mayor_valor / menor_valor )    [dB]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54480"/>
            <a:ext cx="265176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1541 dB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flotante 32 bits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(w=8 bits de exponente)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5544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5544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186 dB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15468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fijo 32 bits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(31 bits de rango)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5544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554480"/>
            <a:ext cx="265176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8.3 más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98932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flotante multiplica 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dinámico en dB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402336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63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flotante — resolución variable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410712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564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escalones crecen con la magnitud.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precisión cerca del 0, menos lejos.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ulp relativo ≈ constante (= eps)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063240"/>
            <a:ext cx="402336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063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fijo — resolución constante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410712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4564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escalones tienen el mismo tamaño.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 implementar en hardware.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rango pero costo de producción bajo.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42519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 flotante ≈ 6.02 · 2^w  donde w = bits del campo del exponente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Limitaciones y Problemas de Precisión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≫  Absorción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grande absorbe al pequeño al alinear exponentes: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2⁵³ + 1 − 2⁵³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(debería ser 1)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diferencia de magnitud supera la precisión de la mantisa, el número menor desaparece.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606040"/>
            <a:ext cx="265176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334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(2^53 + 1) - 2^53;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a = 0  (¡no 1!)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Cancelación de significancia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258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 dos números casi iguales destruye dígitos significativos: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tan(1) − sin(1)/cos(1)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2.22×10⁻¹⁶  ≠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bits de ruido quedan expuestos cuando los dígitos correctos se cancelan.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606040"/>
            <a:ext cx="265176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6334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tan(x) - sin(x)/cos(x);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t = 2.2204e-16 = eps(1)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822960"/>
            <a:ext cx="2743200" cy="457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 No-asociatividad de la suma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258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flotante no es asociativa: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+ b) + c  ≠  a + (b + c)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1000000000 + 1500 ≈ 1000001024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 pierden 476 unidades)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sumandos de menor a mayor reduce el error.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2606040"/>
            <a:ext cx="265176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6334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Ejemplo: orden importa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sum([1e9, 1500])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859536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918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para reducir errores numéricos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93008"/>
            <a:ext cx="85953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11296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Sumar de menor a mayor magnitud (algoritmo de Kahan para sumas largas)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85032"/>
            <a:ext cx="8595360" cy="182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03320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Nunca comparar flotantes con ==, usar |a − b| &lt; tolerancia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877056"/>
            <a:ext cx="85953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895344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Evitar restar números casi iguales — reformular algebraicamente si es posible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069080"/>
            <a:ext cx="8595360" cy="1828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87368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Usar double (64 bits) en lugar de single cuando el rango dinámico sea crítico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37160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83080" y="1042416"/>
            <a:ext cx="6995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 (1b) + Exponente sesgado (8b) + Mantisa (23b) = 32 bits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99616"/>
            <a:ext cx="137160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99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oculto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536192"/>
            <a:ext cx="6995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'1.' antes de la coma es implícito → 24 bits efectivos de mantisa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137160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029968"/>
            <a:ext cx="6995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entre 1 y 254: valor = (−1)^S · 1.T · 2^(E−127), representación única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137160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523744"/>
            <a:ext cx="6995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0: valor = (−1)^S · 0.T · 2^(−126), permite gradual underflow hacia cero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80944"/>
            <a:ext cx="137160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809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3017520"/>
            <a:ext cx="6995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E=0,T=0 → ±0 | E=255,T=0 → ±Inf | E=255,T≠0 → NaN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74720"/>
            <a:ext cx="137160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74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Redondeo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3511296"/>
            <a:ext cx="6995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IEEE 754: al más próximo (minimiza error promedio). ulp = tamaño del escalón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968496"/>
            <a:ext cx="137160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684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4005072"/>
            <a:ext cx="6995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flotante ≈ 1541 dB vs 186 dB en punto fijo (ambos de 32 bits)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462272"/>
            <a:ext cx="137160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4622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4498848"/>
            <a:ext cx="6995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Absorción, cancelación de significancia y no-asociatividad son las trampas clásicas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Representación en Punto Flotante</dc:title>
  <dc:subject>PptxGenJS Presentation</dc:subject>
  <dc:creator>PptxGenJS</dc:creator>
  <cp:lastModifiedBy>PptxGenJS</cp:lastModifiedBy>
  <cp:revision>1</cp:revision>
  <dcterms:created xsi:type="dcterms:W3CDTF">2026-03-31T12:42:13Z</dcterms:created>
  <dcterms:modified xsi:type="dcterms:W3CDTF">2026-03-31T12:42:13Z</dcterms:modified>
</cp:coreProperties>
</file>