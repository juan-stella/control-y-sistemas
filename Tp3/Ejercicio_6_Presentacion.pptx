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8" d="100"/>
          <a:sy n="108" d="100"/>
        </p:scale>
        <p:origin x="678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3601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 dirty="0" err="1">
                <a:solidFill>
                  <a:srgbClr val="89B4FA"/>
                </a:solidFill>
              </a:rPr>
              <a:t>Ejercicio</a:t>
            </a:r>
            <a:r>
              <a:rPr sz="4400" b="1" i="0" dirty="0">
                <a:solidFill>
                  <a:srgbClr val="89B4FA"/>
                </a:solidFill>
              </a:rPr>
              <a:t> </a:t>
            </a:r>
            <a:r>
              <a:rPr lang="es-MX" sz="4400" b="1" i="0" dirty="0">
                <a:solidFill>
                  <a:srgbClr val="89B4FA"/>
                </a:solidFill>
              </a:rPr>
              <a:t>6</a:t>
            </a:r>
            <a:endParaRPr sz="4400" b="1" i="0" dirty="0">
              <a:solidFill>
                <a:srgbClr val="89B4FA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6015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 dirty="0" err="1">
                <a:solidFill>
                  <a:srgbClr val="BAC2DE"/>
                </a:solidFill>
              </a:rPr>
              <a:t>Excepciones</a:t>
            </a:r>
            <a:r>
              <a:rPr sz="2200" b="0" i="0" dirty="0">
                <a:solidFill>
                  <a:srgbClr val="BAC2DE"/>
                </a:solidFill>
              </a:rPr>
              <a:t> de Punto </a:t>
            </a:r>
            <a:r>
              <a:rPr sz="2200" b="0" i="0" dirty="0" err="1">
                <a:solidFill>
                  <a:srgbClr val="BAC2DE"/>
                </a:solidFill>
              </a:rPr>
              <a:t>Flotante</a:t>
            </a:r>
            <a:r>
              <a:rPr sz="2200" b="0" i="0" dirty="0">
                <a:solidFill>
                  <a:srgbClr val="BAC2DE"/>
                </a:solidFill>
              </a:rPr>
              <a:t> y </a:t>
            </a:r>
            <a:r>
              <a:rPr sz="2200" b="0" i="0" dirty="0" err="1">
                <a:solidFill>
                  <a:srgbClr val="BAC2DE"/>
                </a:solidFill>
              </a:rPr>
              <a:t>Manejo</a:t>
            </a:r>
            <a:r>
              <a:rPr sz="2200" b="0" i="0" dirty="0">
                <a:solidFill>
                  <a:srgbClr val="BAC2DE"/>
                </a:solidFill>
              </a:rPr>
              <a:t> de Se</a:t>
            </a:r>
            <a:r>
              <a:rPr lang="es-MX" sz="2200" dirty="0">
                <a:solidFill>
                  <a:srgbClr val="BAC2DE"/>
                </a:solidFill>
              </a:rPr>
              <a:t>ñ</a:t>
            </a:r>
            <a:r>
              <a:rPr sz="2200" b="0" i="0" dirty="0">
                <a:solidFill>
                  <a:srgbClr val="BAC2DE"/>
                </a:solidFill>
              </a:rPr>
              <a:t>ales </a:t>
            </a:r>
            <a:r>
              <a:rPr sz="2200" b="0" i="0" dirty="0" err="1">
                <a:solidFill>
                  <a:srgbClr val="BAC2DE"/>
                </a:solidFill>
              </a:rPr>
              <a:t>en</a:t>
            </a:r>
            <a:r>
              <a:rPr sz="2200" b="0" i="0" dirty="0">
                <a:solidFill>
                  <a:srgbClr val="BAC2DE"/>
                </a:solidFill>
              </a:rPr>
              <a:t>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BAC2DE"/>
                </a:solidFill>
              </a:rPr>
              <a:t>Control y Sistemas  -  Trabajo Practico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89B4FA"/>
                </a:solidFill>
              </a:rPr>
              <a:t>Pregunta 3  -  Analisis de resultados por consola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22960"/>
            <a:ext cx="11430000" cy="36576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9E2AF"/>
                </a:solidFill>
              </a:rPr>
              <a:t>Son los resultados consistentes con las operaciones ejecutadas?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1064240" cy="41703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AR" sz="1700" b="0" i="0" dirty="0">
                <a:solidFill>
                  <a:srgbClr val="FFFFFF"/>
                </a:solidFill>
              </a:rPr>
              <a:t>Si. El programa levanta una excepción a la vez con </a:t>
            </a:r>
            <a:r>
              <a:rPr lang="es-AR" sz="1700" b="0" i="0" dirty="0" err="1">
                <a:solidFill>
                  <a:srgbClr val="FFFFFF"/>
                </a:solidFill>
              </a:rPr>
              <a:t>feraiseexcept</a:t>
            </a:r>
            <a:r>
              <a:rPr lang="es-AR" sz="1700" b="0" i="0" dirty="0">
                <a:solidFill>
                  <a:srgbClr val="FFFFFF"/>
                </a:solidFill>
              </a:rPr>
              <a:t>() y la imprime
inmediatamente con </a:t>
            </a:r>
            <a:r>
              <a:rPr lang="es-AR" sz="1700" b="0" i="0" dirty="0" err="1">
                <a:solidFill>
                  <a:srgbClr val="FFFFFF"/>
                </a:solidFill>
              </a:rPr>
              <a:t>show_fe_exceptions</a:t>
            </a:r>
            <a:r>
              <a:rPr lang="es-AR" sz="1700" b="0" i="0" dirty="0">
                <a:solidFill>
                  <a:srgbClr val="FFFFFF"/>
                </a:solidFill>
              </a:rPr>
              <a:t>().</a:t>
            </a:r>
          </a:p>
          <a:p>
            <a:pPr algn="l"/>
            <a:endParaRPr lang="es-AR" sz="1700" b="0" i="0" dirty="0">
              <a:solidFill>
                <a:srgbClr val="FFFFFF"/>
              </a:solidFill>
            </a:endParaRPr>
          </a:p>
          <a:p>
            <a:r>
              <a:rPr lang="es-AR" sz="1600" dirty="0">
                <a:solidFill>
                  <a:srgbClr val="A6E22E"/>
                </a:solidFill>
                <a:latin typeface="Consolas" panose="020B0609020204030204" pitchFamily="49" charset="0"/>
              </a:rPr>
              <a:t>  </a:t>
            </a:r>
            <a:r>
              <a:rPr lang="es-AR" sz="1600" b="0" dirty="0" err="1">
                <a:solidFill>
                  <a:srgbClr val="A6E22E"/>
                </a:solidFill>
                <a:effectLst/>
                <a:latin typeface="Consolas" panose="020B0609020204030204" pitchFamily="49" charset="0"/>
              </a:rPr>
              <a:t>feraiseexcept</a:t>
            </a:r>
            <a:r>
              <a:rPr lang="es-AR" sz="1600" b="0" dirty="0">
                <a:solidFill>
                  <a:srgbClr val="F8F8F2"/>
                </a:solidFill>
                <a:effectLst/>
                <a:latin typeface="Consolas" panose="020B0609020204030204" pitchFamily="49" charset="0"/>
              </a:rPr>
              <a:t>(FE_INVALID);</a:t>
            </a:r>
          </a:p>
          <a:p>
            <a:r>
              <a:rPr lang="es-AR" sz="1600" b="0" dirty="0">
                <a:solidFill>
                  <a:srgbClr val="F8F8F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s-AR" sz="1600" b="0" dirty="0" err="1">
                <a:solidFill>
                  <a:srgbClr val="A6E22E"/>
                </a:solidFill>
                <a:effectLst/>
                <a:latin typeface="Consolas" panose="020B0609020204030204" pitchFamily="49" charset="0"/>
              </a:rPr>
              <a:t>show_fe_exceptions</a:t>
            </a:r>
            <a:r>
              <a:rPr lang="es-AR" sz="1600" b="0" dirty="0">
                <a:solidFill>
                  <a:srgbClr val="F8F8F2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br>
              <a:rPr lang="es-AR" sz="1600" b="0" dirty="0">
                <a:solidFill>
                  <a:srgbClr val="F8F8F2"/>
                </a:solidFill>
                <a:effectLst/>
                <a:latin typeface="Consolas" panose="020B0609020204030204" pitchFamily="49" charset="0"/>
              </a:rPr>
            </a:br>
            <a:r>
              <a:rPr lang="es-AR" sz="1600" b="0" dirty="0">
                <a:solidFill>
                  <a:srgbClr val="F8F8F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s-AR" sz="1600" b="0" dirty="0">
                <a:solidFill>
                  <a:srgbClr val="88846F"/>
                </a:solidFill>
                <a:effectLst/>
                <a:latin typeface="Consolas" panose="020B0609020204030204" pitchFamily="49" charset="0"/>
              </a:rPr>
              <a:t>//~ /* </a:t>
            </a:r>
            <a:r>
              <a:rPr lang="es-AR" sz="1600" b="0" dirty="0" err="1">
                <a:solidFill>
                  <a:srgbClr val="88846F"/>
                </a:solidFill>
                <a:effectLst/>
                <a:latin typeface="Consolas" panose="020B0609020204030204" pitchFamily="49" charset="0"/>
              </a:rPr>
              <a:t>Temporarily</a:t>
            </a:r>
            <a:r>
              <a:rPr lang="es-AR" sz="1600" b="0" dirty="0">
                <a:solidFill>
                  <a:srgbClr val="88846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s-AR" sz="1600" b="0" dirty="0" err="1">
                <a:solidFill>
                  <a:srgbClr val="88846F"/>
                </a:solidFill>
                <a:effectLst/>
                <a:latin typeface="Consolas" panose="020B0609020204030204" pitchFamily="49" charset="0"/>
              </a:rPr>
              <a:t>raise</a:t>
            </a:r>
            <a:r>
              <a:rPr lang="es-AR" sz="1600" b="0" dirty="0">
                <a:solidFill>
                  <a:srgbClr val="88846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s-AR" sz="1600" b="0" dirty="0" err="1">
                <a:solidFill>
                  <a:srgbClr val="88846F"/>
                </a:solidFill>
                <a:effectLst/>
                <a:latin typeface="Consolas" panose="020B0609020204030204" pitchFamily="49" charset="0"/>
              </a:rPr>
              <a:t>two</a:t>
            </a:r>
            <a:r>
              <a:rPr lang="es-AR" sz="1600" b="0" dirty="0">
                <a:solidFill>
                  <a:srgbClr val="88846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s-AR" sz="1600" b="0" dirty="0" err="1">
                <a:solidFill>
                  <a:srgbClr val="88846F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s-AR" sz="1600" b="0" dirty="0">
                <a:solidFill>
                  <a:srgbClr val="88846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s-AR" sz="1600" b="0" dirty="0" err="1">
                <a:solidFill>
                  <a:srgbClr val="88846F"/>
                </a:solidFill>
                <a:effectLst/>
                <a:latin typeface="Consolas" panose="020B0609020204030204" pitchFamily="49" charset="0"/>
              </a:rPr>
              <a:t>exceptions</a:t>
            </a:r>
            <a:r>
              <a:rPr lang="es-AR" sz="1600" b="0" dirty="0">
                <a:solidFill>
                  <a:srgbClr val="88846F"/>
                </a:solidFill>
                <a:effectLst/>
                <a:latin typeface="Consolas" panose="020B0609020204030204" pitchFamily="49" charset="0"/>
              </a:rPr>
              <a:t>. */</a:t>
            </a:r>
            <a:endParaRPr lang="es-AR" sz="1600" b="0" dirty="0">
              <a:solidFill>
                <a:srgbClr val="F8F8F2"/>
              </a:solidFill>
              <a:effectLst/>
              <a:latin typeface="Consolas" panose="020B0609020204030204" pitchFamily="49" charset="0"/>
            </a:endParaRPr>
          </a:p>
          <a:p>
            <a:r>
              <a:rPr lang="es-AR" sz="1600" b="0" dirty="0">
                <a:solidFill>
                  <a:srgbClr val="F8F8F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s-AR" sz="1600" b="0" dirty="0" err="1">
                <a:solidFill>
                  <a:srgbClr val="A6E22E"/>
                </a:solidFill>
                <a:effectLst/>
                <a:latin typeface="Consolas" panose="020B0609020204030204" pitchFamily="49" charset="0"/>
              </a:rPr>
              <a:t>feclearexcept</a:t>
            </a:r>
            <a:r>
              <a:rPr lang="es-AR" sz="1600" b="0" dirty="0">
                <a:solidFill>
                  <a:srgbClr val="F8F8F2"/>
                </a:solidFill>
                <a:effectLst/>
                <a:latin typeface="Consolas" panose="020B0609020204030204" pitchFamily="49" charset="0"/>
              </a:rPr>
              <a:t>(FE_ALL_EXCEPT);</a:t>
            </a:r>
          </a:p>
          <a:p>
            <a:r>
              <a:rPr lang="es-AR" sz="1600" b="0" dirty="0">
                <a:solidFill>
                  <a:srgbClr val="F8F8F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s-AR" sz="1600" b="0" dirty="0" err="1">
                <a:solidFill>
                  <a:srgbClr val="A6E22E"/>
                </a:solidFill>
                <a:effectLst/>
                <a:latin typeface="Consolas" panose="020B0609020204030204" pitchFamily="49" charset="0"/>
              </a:rPr>
              <a:t>feraiseexcept</a:t>
            </a:r>
            <a:r>
              <a:rPr lang="es-AR" sz="1600" b="0" dirty="0">
                <a:solidFill>
                  <a:srgbClr val="F8F8F2"/>
                </a:solidFill>
                <a:effectLst/>
                <a:latin typeface="Consolas" panose="020B0609020204030204" pitchFamily="49" charset="0"/>
              </a:rPr>
              <a:t>(FE_OVERFLOW </a:t>
            </a:r>
            <a:r>
              <a:rPr lang="es-AR" sz="1600" b="0" dirty="0">
                <a:solidFill>
                  <a:srgbClr val="F92672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s-AR" sz="1600" b="0" dirty="0">
                <a:solidFill>
                  <a:srgbClr val="F8F8F2"/>
                </a:solidFill>
                <a:effectLst/>
                <a:latin typeface="Consolas" panose="020B0609020204030204" pitchFamily="49" charset="0"/>
              </a:rPr>
              <a:t> FE_INEXACT);</a:t>
            </a:r>
          </a:p>
          <a:p>
            <a:r>
              <a:rPr lang="es-AR" sz="1600" b="0" dirty="0">
                <a:solidFill>
                  <a:srgbClr val="F8F8F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s-AR" sz="1600" b="0" dirty="0" err="1">
                <a:solidFill>
                  <a:srgbClr val="A6E22E"/>
                </a:solidFill>
                <a:effectLst/>
                <a:latin typeface="Consolas" panose="020B0609020204030204" pitchFamily="49" charset="0"/>
              </a:rPr>
              <a:t>show_fe_exceptions</a:t>
            </a:r>
            <a:r>
              <a:rPr lang="es-AR" sz="1600" b="0" dirty="0">
                <a:solidFill>
                  <a:srgbClr val="F8F8F2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 algn="l"/>
            <a:r>
              <a:rPr lang="es-AR" sz="1700" b="0" i="0" dirty="0">
                <a:solidFill>
                  <a:srgbClr val="FFFFFF"/>
                </a:solidFill>
              </a:rPr>
              <a:t>
En el primer bloque se levanta FE_INVALID -&gt; aparece en pantalla.
En el segundo bloque, después de limpiar con </a:t>
            </a:r>
            <a:r>
              <a:rPr lang="es-AR" sz="1700" b="0" i="0" dirty="0" err="1">
                <a:solidFill>
                  <a:srgbClr val="FFFFFF"/>
                </a:solidFill>
              </a:rPr>
              <a:t>feclearexcept</a:t>
            </a:r>
            <a:r>
              <a:rPr lang="es-AR" sz="1700" b="0" i="0" dirty="0">
                <a:solidFill>
                  <a:srgbClr val="FFFFFF"/>
                </a:solidFill>
              </a:rPr>
              <a:t>(), se levantan FE_OVERFLOW
y FE_INEXACT simultáneamente -&gt; ambas aparecen juntas en consola.
El resultado es totalmente consistente con las instrucciones del código.</a:t>
            </a:r>
          </a:p>
        </p:txBody>
      </p:sp>
      <p:sp>
        <p:nvSpPr>
          <p:cNvPr id="7" name="Rectangle 6"/>
          <p:cNvSpPr/>
          <p:nvPr/>
        </p:nvSpPr>
        <p:spPr>
          <a:xfrm>
            <a:off x="1629940" y="5728317"/>
            <a:ext cx="8138160" cy="9144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794532" y="5865477"/>
            <a:ext cx="780897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dirty="0">
                <a:solidFill>
                  <a:srgbClr val="A6E3A1"/>
                </a:solidFill>
                <a:latin typeface="Courier New"/>
              </a:rPr>
              <a:t>current exceptions raised:  FE_INVALID
current exceptions raised:  FE_INEXACT FE_OVERFLOW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89B4FA"/>
                </a:solidFill>
              </a:rPr>
              <a:t>Pregunta 5  -  Descomentar feenableexcept()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22960"/>
            <a:ext cx="11430000" cy="36576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9E2AF"/>
                </a:solidFill>
              </a:rPr>
              <a:t>Que se observa? Cual es la funcion de feenableexcept()?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106424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AR" sz="1700" b="0" i="0" dirty="0">
                <a:solidFill>
                  <a:srgbClr val="FFFFFF"/>
                </a:solidFill>
              </a:rPr>
              <a:t>Al activar </a:t>
            </a:r>
            <a:r>
              <a:rPr lang="es-AR" sz="1700" b="0" i="0" dirty="0" err="1">
                <a:solidFill>
                  <a:srgbClr val="FFFFFF"/>
                </a:solidFill>
              </a:rPr>
              <a:t>feenableexcept</a:t>
            </a:r>
            <a:r>
              <a:rPr lang="es-AR" sz="1700" b="0" i="0" dirty="0">
                <a:solidFill>
                  <a:srgbClr val="FFFFFF"/>
                </a:solidFill>
              </a:rPr>
              <a:t>(FE_ALL_EXCEPT) sin un </a:t>
            </a:r>
            <a:r>
              <a:rPr lang="es-AR" sz="1700" b="0" i="0" dirty="0" err="1">
                <a:solidFill>
                  <a:srgbClr val="FFFFFF"/>
                </a:solidFill>
              </a:rPr>
              <a:t>handler</a:t>
            </a:r>
            <a:r>
              <a:rPr lang="es-AR" sz="1700" b="0" i="0" dirty="0">
                <a:solidFill>
                  <a:srgbClr val="FFFFFF"/>
                </a:solidFill>
              </a:rPr>
              <a:t> instalado,
el programa termina de forma abrupta con </a:t>
            </a:r>
            <a:r>
              <a:rPr lang="es-AR" sz="1700" b="0" i="0" dirty="0" err="1">
                <a:solidFill>
                  <a:srgbClr val="FFFFFF"/>
                </a:solidFill>
              </a:rPr>
              <a:t>exit</a:t>
            </a:r>
            <a:r>
              <a:rPr lang="es-AR" sz="1700" b="0" i="0" dirty="0">
                <a:solidFill>
                  <a:srgbClr val="FFFFFF"/>
                </a:solidFill>
              </a:rPr>
              <a:t> </a:t>
            </a:r>
            <a:r>
              <a:rPr lang="es-AR" sz="1700" b="0" i="0" dirty="0" err="1">
                <a:solidFill>
                  <a:srgbClr val="FFFFFF"/>
                </a:solidFill>
              </a:rPr>
              <a:t>code</a:t>
            </a:r>
            <a:r>
              <a:rPr lang="es-AR" sz="1700" b="0" i="0" dirty="0">
                <a:solidFill>
                  <a:srgbClr val="FFFFFF"/>
                </a:solidFill>
              </a:rPr>
              <a:t> 136.</a:t>
            </a:r>
          </a:p>
          <a:p>
            <a:pPr algn="l"/>
            <a:endParaRPr lang="es-AR" sz="1700" b="0" i="0" dirty="0">
              <a:solidFill>
                <a:srgbClr val="FFFFFF"/>
              </a:solidFill>
            </a:endParaRPr>
          </a:p>
          <a:p>
            <a:r>
              <a:rPr lang="es-AR" sz="1600" b="0" dirty="0">
                <a:solidFill>
                  <a:srgbClr val="F8F8F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s-AR" sz="1600" b="0" dirty="0" err="1">
                <a:solidFill>
                  <a:srgbClr val="A6E22E"/>
                </a:solidFill>
                <a:effectLst/>
                <a:latin typeface="Consolas" panose="020B0609020204030204" pitchFamily="49" charset="0"/>
              </a:rPr>
              <a:t>feclearexcept</a:t>
            </a:r>
            <a:r>
              <a:rPr lang="es-AR" sz="1600" b="0" dirty="0">
                <a:solidFill>
                  <a:srgbClr val="F8F8F2"/>
                </a:solidFill>
                <a:effectLst/>
                <a:latin typeface="Consolas" panose="020B0609020204030204" pitchFamily="49" charset="0"/>
              </a:rPr>
              <a:t> (FE_ALL_EXCEPT);</a:t>
            </a:r>
          </a:p>
          <a:p>
            <a:r>
              <a:rPr lang="es-AR" sz="1600" b="0" dirty="0">
                <a:solidFill>
                  <a:srgbClr val="F8F8F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s-AR" sz="1600" b="0" dirty="0" err="1">
                <a:solidFill>
                  <a:srgbClr val="A6E22E"/>
                </a:solidFill>
                <a:effectLst/>
                <a:latin typeface="Consolas" panose="020B0609020204030204" pitchFamily="49" charset="0"/>
              </a:rPr>
              <a:t>feenableexcept</a:t>
            </a:r>
            <a:r>
              <a:rPr lang="es-AR" sz="1600" b="0" dirty="0">
                <a:solidFill>
                  <a:srgbClr val="F8F8F2"/>
                </a:solidFill>
                <a:effectLst/>
                <a:latin typeface="Consolas" panose="020B0609020204030204" pitchFamily="49" charset="0"/>
              </a:rPr>
              <a:t>(FE_ALL_EXCEPT); </a:t>
            </a:r>
          </a:p>
          <a:p>
            <a:pPr algn="l"/>
            <a:r>
              <a:rPr lang="es-AR" sz="1700" b="0" i="0" dirty="0">
                <a:solidFill>
                  <a:srgbClr val="FFFFFF"/>
                </a:solidFill>
              </a:rPr>
              <a:t>
El código 136 corresponde a SIGFPE (</a:t>
            </a:r>
            <a:r>
              <a:rPr lang="es-AR" sz="1700" b="0" i="0" dirty="0" err="1">
                <a:solidFill>
                  <a:srgbClr val="FFFFFF"/>
                </a:solidFill>
              </a:rPr>
              <a:t>Floating</a:t>
            </a:r>
            <a:r>
              <a:rPr lang="es-AR" sz="1700" b="0" i="0" dirty="0">
                <a:solidFill>
                  <a:srgbClr val="FFFFFF"/>
                </a:solidFill>
              </a:rPr>
              <a:t> Point </a:t>
            </a:r>
            <a:r>
              <a:rPr lang="es-AR" sz="1700" b="0" i="0" dirty="0" err="1">
                <a:solidFill>
                  <a:srgbClr val="FFFFFF"/>
                </a:solidFill>
              </a:rPr>
              <a:t>Exception</a:t>
            </a:r>
            <a:r>
              <a:rPr lang="es-AR" sz="1700" b="0" i="0" dirty="0">
                <a:solidFill>
                  <a:srgbClr val="FFFFFF"/>
                </a:solidFill>
              </a:rPr>
              <a:t>).
</a:t>
            </a:r>
            <a:r>
              <a:rPr lang="es-AR" sz="1700" b="0" i="0" dirty="0" err="1">
                <a:solidFill>
                  <a:srgbClr val="FFFFFF"/>
                </a:solidFill>
              </a:rPr>
              <a:t>feenableexcept</a:t>
            </a:r>
            <a:r>
              <a:rPr lang="es-AR" sz="1700" b="0" i="0" dirty="0">
                <a:solidFill>
                  <a:srgbClr val="FFFFFF"/>
                </a:solidFill>
              </a:rPr>
              <a:t>() le ordena al hardware que emita una interrupción activa (SIGFPE)
cada vez que ocurre un error de punto flotante. Como no hay </a:t>
            </a:r>
            <a:r>
              <a:rPr lang="es-AR" sz="1700" b="0" i="0" dirty="0" err="1">
                <a:solidFill>
                  <a:srgbClr val="FFFFFF"/>
                </a:solidFill>
              </a:rPr>
              <a:t>handler</a:t>
            </a:r>
            <a:r>
              <a:rPr lang="es-AR" sz="1700" b="0" i="0" dirty="0">
                <a:solidFill>
                  <a:srgbClr val="FFFFFF"/>
                </a:solidFill>
              </a:rPr>
              <a:t>, se interrum</a:t>
            </a:r>
            <a:r>
              <a:rPr lang="es-AR" sz="1700" dirty="0">
                <a:solidFill>
                  <a:srgbClr val="FFFFFF"/>
                </a:solidFill>
              </a:rPr>
              <a:t>pe el proceso</a:t>
            </a:r>
            <a:r>
              <a:rPr lang="es-AR" sz="1700" b="0" i="0" dirty="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4402836"/>
            <a:ext cx="8138160" cy="82296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30352" y="4539996"/>
            <a:ext cx="78089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dirty="0">
                <a:solidFill>
                  <a:srgbClr val="A6E3A1"/>
                </a:solidFill>
                <a:latin typeface="Courier New"/>
              </a:rPr>
              <a:t>...Program finished with exit code 136
Press ENTER to exit console.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394960"/>
            <a:ext cx="11430000" cy="118872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54406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89B4FA"/>
                </a:solidFill>
              </a:rPr>
              <a:t>Funcion de feenableexcept():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33872"/>
            <a:ext cx="1097280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 err="1">
                <a:solidFill>
                  <a:srgbClr val="BAC2DE"/>
                </a:solidFill>
              </a:rPr>
              <a:t>Desenenmascara</a:t>
            </a:r>
            <a:r>
              <a:rPr sz="1300" b="0" i="0" dirty="0">
                <a:solidFill>
                  <a:srgbClr val="BAC2DE"/>
                </a:solidFill>
              </a:rPr>
              <a:t> las </a:t>
            </a:r>
            <a:r>
              <a:rPr sz="1300" b="0" i="0" dirty="0" err="1">
                <a:solidFill>
                  <a:srgbClr val="BAC2DE"/>
                </a:solidFill>
              </a:rPr>
              <a:t>excepciones</a:t>
            </a:r>
            <a:r>
              <a:rPr sz="1300" b="0" i="0" dirty="0">
                <a:solidFill>
                  <a:srgbClr val="BAC2DE"/>
                </a:solidFill>
              </a:rPr>
              <a:t> del FPU. Las </a:t>
            </a:r>
            <a:r>
              <a:rPr sz="1300" b="0" i="0" dirty="0" err="1">
                <a:solidFill>
                  <a:srgbClr val="BAC2DE"/>
                </a:solidFill>
              </a:rPr>
              <a:t>convierte</a:t>
            </a:r>
            <a:r>
              <a:rPr sz="1300" b="0" i="0" dirty="0">
                <a:solidFill>
                  <a:srgbClr val="BAC2DE"/>
                </a:solidFill>
              </a:rPr>
              <a:t> de modo </a:t>
            </a:r>
            <a:r>
              <a:rPr sz="1300" b="0" i="0" dirty="0" err="1">
                <a:solidFill>
                  <a:srgbClr val="BAC2DE"/>
                </a:solidFill>
              </a:rPr>
              <a:t>pasivo</a:t>
            </a:r>
            <a:r>
              <a:rPr sz="1300" b="0" i="0" dirty="0">
                <a:solidFill>
                  <a:srgbClr val="BAC2DE"/>
                </a:solidFill>
              </a:rPr>
              <a:t> (</a:t>
            </a:r>
            <a:r>
              <a:rPr lang="es-MX" sz="1300" dirty="0">
                <a:solidFill>
                  <a:srgbClr val="BAC2DE"/>
                </a:solidFill>
              </a:rPr>
              <a:t>se activan </a:t>
            </a:r>
            <a:r>
              <a:rPr lang="es-MX" sz="1300" dirty="0" err="1">
                <a:solidFill>
                  <a:srgbClr val="BAC2DE"/>
                </a:solidFill>
              </a:rPr>
              <a:t>flags</a:t>
            </a:r>
            <a:r>
              <a:rPr lang="es-MX" sz="1300" dirty="0">
                <a:solidFill>
                  <a:srgbClr val="BAC2DE"/>
                </a:solidFill>
              </a:rPr>
              <a:t> internas del FPU sin interrumpir el programa</a:t>
            </a:r>
            <a:r>
              <a:rPr sz="1300" b="0" i="0" dirty="0">
                <a:solidFill>
                  <a:srgbClr val="BAC2DE"/>
                </a:solidFill>
              </a:rPr>
              <a:t>) a modo </a:t>
            </a:r>
            <a:r>
              <a:rPr sz="1300" b="0" i="0" dirty="0" err="1">
                <a:solidFill>
                  <a:srgbClr val="BAC2DE"/>
                </a:solidFill>
              </a:rPr>
              <a:t>activo</a:t>
            </a:r>
            <a:r>
              <a:rPr sz="1300" b="0" i="0" dirty="0">
                <a:solidFill>
                  <a:srgbClr val="BAC2DE"/>
                </a:solidFill>
              </a:rPr>
              <a:t> (</a:t>
            </a:r>
            <a:r>
              <a:rPr sz="1300" b="0" i="0" dirty="0" err="1">
                <a:solidFill>
                  <a:srgbClr val="BAC2DE"/>
                </a:solidFill>
              </a:rPr>
              <a:t>emite</a:t>
            </a:r>
            <a:r>
              <a:rPr sz="1300" b="0" i="0" dirty="0">
                <a:solidFill>
                  <a:srgbClr val="BAC2DE"/>
                </a:solidFill>
              </a:rPr>
              <a:t> SIGFPE </a:t>
            </a:r>
            <a:r>
              <a:rPr sz="1300" b="0" i="0" dirty="0" err="1">
                <a:solidFill>
                  <a:srgbClr val="BAC2DE"/>
                </a:solidFill>
              </a:rPr>
              <a:t>inmediatamente</a:t>
            </a:r>
            <a:r>
              <a:rPr sz="1300" b="0" i="0" dirty="0">
                <a:solidFill>
                  <a:srgbClr val="BAC2DE"/>
                </a:solidFill>
              </a:rPr>
              <a:t>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89B4FA"/>
                </a:solidFill>
              </a:rPr>
              <a:t>Pregunta 7  -  Descomentar signal(SIGFPE, fpe_handler)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22960"/>
            <a:ext cx="11430000" cy="36576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AR" sz="1800" b="1" i="0" dirty="0">
                <a:solidFill>
                  <a:srgbClr val="F9E2AF"/>
                </a:solidFill>
              </a:rPr>
              <a:t>Que se observa? Cual es el objetivo de </a:t>
            </a:r>
            <a:r>
              <a:rPr lang="es-AR" sz="1800" b="1" i="0" dirty="0" err="1">
                <a:solidFill>
                  <a:srgbClr val="F9E2AF"/>
                </a:solidFill>
              </a:rPr>
              <a:t>signal</a:t>
            </a:r>
            <a:r>
              <a:rPr lang="es-AR" sz="1800" b="1" i="0" dirty="0">
                <a:solidFill>
                  <a:srgbClr val="F9E2AF"/>
                </a:solidFill>
              </a:rPr>
              <a:t>()?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1064240" cy="1400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AR" sz="1700" b="0" i="0" dirty="0">
                <a:solidFill>
                  <a:srgbClr val="FFFFFF"/>
                </a:solidFill>
              </a:rPr>
              <a:t>Al registrar </a:t>
            </a:r>
            <a:r>
              <a:rPr lang="es-AR" sz="1700" b="0" i="0" dirty="0" err="1">
                <a:solidFill>
                  <a:srgbClr val="FFFFFF"/>
                </a:solidFill>
              </a:rPr>
              <a:t>fpe_handler</a:t>
            </a:r>
            <a:r>
              <a:rPr lang="es-AR" sz="1700" b="0" i="0" dirty="0">
                <a:solidFill>
                  <a:srgbClr val="FFFFFF"/>
                </a:solidFill>
              </a:rPr>
              <a:t> con </a:t>
            </a:r>
            <a:r>
              <a:rPr lang="es-AR" sz="1700" b="0" i="0" dirty="0" err="1">
                <a:solidFill>
                  <a:srgbClr val="FFFFFF"/>
                </a:solidFill>
              </a:rPr>
              <a:t>signal</a:t>
            </a:r>
            <a:r>
              <a:rPr lang="es-AR" sz="1700" b="0" i="0" dirty="0">
                <a:solidFill>
                  <a:srgbClr val="FFFFFF"/>
                </a:solidFill>
              </a:rPr>
              <a:t>(), cuando ocurre la excepción el sistema
operativo interrumpe el programa y llama a </a:t>
            </a:r>
            <a:r>
              <a:rPr lang="es-AR" sz="1700" b="0" i="0" dirty="0" err="1">
                <a:solidFill>
                  <a:srgbClr val="FFFFFF"/>
                </a:solidFill>
              </a:rPr>
              <a:t>fpe_handler</a:t>
            </a:r>
            <a:r>
              <a:rPr lang="es-AR" sz="1700" b="0" i="0" dirty="0">
                <a:solidFill>
                  <a:srgbClr val="FFFFFF"/>
                </a:solidFill>
              </a:rPr>
              <a:t>() en lugar de cerrarlo.
El programa ya no termina con </a:t>
            </a:r>
            <a:r>
              <a:rPr lang="es-AR" sz="1700" b="0" i="0" dirty="0" err="1">
                <a:solidFill>
                  <a:srgbClr val="FFFFFF"/>
                </a:solidFill>
              </a:rPr>
              <a:t>exit</a:t>
            </a:r>
            <a:r>
              <a:rPr lang="es-AR" sz="1700" b="0" i="0" dirty="0">
                <a:solidFill>
                  <a:srgbClr val="FFFFFF"/>
                </a:solidFill>
              </a:rPr>
              <a:t> 136 (</a:t>
            </a:r>
            <a:r>
              <a:rPr lang="es-AR" sz="1700" b="0" i="0" dirty="0" err="1">
                <a:solidFill>
                  <a:srgbClr val="FFFFFF"/>
                </a:solidFill>
              </a:rPr>
              <a:t>crash</a:t>
            </a:r>
            <a:r>
              <a:rPr lang="es-AR" sz="1700" b="0" i="0" dirty="0">
                <a:solidFill>
                  <a:srgbClr val="FFFFFF"/>
                </a:solidFill>
              </a:rPr>
              <a:t>), sino con </a:t>
            </a:r>
            <a:r>
              <a:rPr lang="es-AR" sz="1700" b="0" i="0" dirty="0" err="1">
                <a:solidFill>
                  <a:srgbClr val="FFFFFF"/>
                </a:solidFill>
              </a:rPr>
              <a:t>exit</a:t>
            </a:r>
            <a:r>
              <a:rPr lang="es-AR" sz="1700" b="0" i="0" dirty="0">
                <a:solidFill>
                  <a:srgbClr val="FFFFFF"/>
                </a:solidFill>
              </a:rPr>
              <a:t> 1 (EXIT_FAILURE),
porque es el propio código quien llama a </a:t>
            </a:r>
            <a:r>
              <a:rPr lang="es-AR" sz="1700" b="0" i="0" dirty="0" err="1">
                <a:solidFill>
                  <a:srgbClr val="FFFFFF"/>
                </a:solidFill>
              </a:rPr>
              <a:t>exit</a:t>
            </a:r>
            <a:r>
              <a:rPr lang="es-AR" sz="1700" b="0" i="0" dirty="0">
                <a:solidFill>
                  <a:srgbClr val="FFFFFF"/>
                </a:solidFill>
              </a:rPr>
              <a:t>() de forma controlada.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648456"/>
            <a:ext cx="8138160" cy="141732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76272" y="3785616"/>
            <a:ext cx="7808976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dirty="0">
                <a:solidFill>
                  <a:srgbClr val="A6E3A1"/>
                </a:solidFill>
                <a:latin typeface="Courier New"/>
              </a:rPr>
              <a:t>UPS! Floating Point Exception
current exceptions raised:  none
...Program finished with exit code 1
Press ENTER to exit console.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468112"/>
            <a:ext cx="11430000" cy="9144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5495544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AR" sz="1400" b="1" i="0" dirty="0">
                <a:solidFill>
                  <a:srgbClr val="89B4FA"/>
                </a:solidFill>
              </a:rPr>
              <a:t>Por que muestra </a:t>
            </a:r>
            <a:r>
              <a:rPr lang="es-AR" sz="1400" b="1" i="0" dirty="0" err="1">
                <a:solidFill>
                  <a:srgbClr val="89B4FA"/>
                </a:solidFill>
              </a:rPr>
              <a:t>none</a:t>
            </a:r>
            <a:r>
              <a:rPr lang="es-AR" sz="1400" b="1" i="0" dirty="0">
                <a:solidFill>
                  <a:srgbClr val="89B4FA"/>
                </a:solidFill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797296"/>
            <a:ext cx="109728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AR" sz="1300" b="0" i="0" dirty="0">
                <a:solidFill>
                  <a:srgbClr val="BAC2DE"/>
                </a:solidFill>
              </a:rPr>
              <a:t>En Linux, la señal SIGFPE es entregada tan rápido que las banderas del FPU aun no se propagaron al registro que lee </a:t>
            </a:r>
            <a:r>
              <a:rPr lang="es-AR" sz="1300" b="0" i="0" dirty="0" err="1">
                <a:solidFill>
                  <a:srgbClr val="BAC2DE"/>
                </a:solidFill>
              </a:rPr>
              <a:t>fetestexcept</a:t>
            </a:r>
            <a:r>
              <a:rPr lang="es-AR" sz="1300" b="0" i="0" dirty="0">
                <a:solidFill>
                  <a:srgbClr val="BAC2DE"/>
                </a:solidFill>
              </a:rPr>
              <a:t>(). Comportamiento del </a:t>
            </a:r>
            <a:r>
              <a:rPr lang="es-AR" sz="1300" b="0" i="0" dirty="0" err="1">
                <a:solidFill>
                  <a:srgbClr val="BAC2DE"/>
                </a:solidFill>
              </a:rPr>
              <a:t>kernel</a:t>
            </a:r>
            <a:r>
              <a:rPr lang="es-AR" sz="1300" b="0" i="0" dirty="0">
                <a:solidFill>
                  <a:srgbClr val="BAC2DE"/>
                </a:solidFill>
              </a:rPr>
              <a:t> Linux.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89B4FA"/>
                </a:solidFill>
              </a:rPr>
              <a:t>Resumen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22960"/>
            <a:ext cx="11430000" cy="36576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1051560"/>
            <a:ext cx="11430000" cy="73152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89B4FA"/>
                </a:solidFill>
              </a:rPr>
              <a:t>feraiseexcept()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1143000"/>
            <a:ext cx="8046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AR" sz="1400" b="0" i="0" dirty="0">
                <a:solidFill>
                  <a:srgbClr val="FFFFFF"/>
                </a:solidFill>
              </a:rPr>
              <a:t>Levanta manualmente una excepción matemática (modo pasivo).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74519"/>
            <a:ext cx="11430000" cy="73152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920239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89B4FA"/>
                </a:solidFill>
              </a:rPr>
              <a:t>feclearexcept()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1965960"/>
            <a:ext cx="8046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AR" sz="1400" b="0" i="0" dirty="0">
                <a:solidFill>
                  <a:srgbClr val="FFFFFF"/>
                </a:solidFill>
              </a:rPr>
              <a:t>Limpia todas las banderas de excepción activas.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697479"/>
            <a:ext cx="11430000" cy="73152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2743199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89B4FA"/>
                </a:solidFill>
              </a:rPr>
              <a:t>fetestexcept()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788920"/>
            <a:ext cx="8046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AR" sz="1400" b="0" i="0" dirty="0">
                <a:solidFill>
                  <a:srgbClr val="FFFFFF"/>
                </a:solidFill>
              </a:rPr>
              <a:t>Consulta si una excepción determinada esta encendida.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520439"/>
            <a:ext cx="11430000" cy="73152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3566159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38BA8"/>
                </a:solidFill>
              </a:rPr>
              <a:t>feenableexcept()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3611879"/>
            <a:ext cx="8046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AR" sz="1400" b="0" i="0" dirty="0">
                <a:solidFill>
                  <a:srgbClr val="FFFFFF"/>
                </a:solidFill>
              </a:rPr>
              <a:t>Activa modo de excepción activa: emite SIGFPE al ocurrir un error.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343400"/>
            <a:ext cx="11430000" cy="73152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4389120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A6E3A1"/>
                </a:solidFill>
              </a:rPr>
              <a:t>signal(SIGFPE, fn)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4434840"/>
            <a:ext cx="8046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AR" sz="1400" b="0" i="0" dirty="0">
                <a:solidFill>
                  <a:srgbClr val="FFFFFF"/>
                </a:solidFill>
              </a:rPr>
              <a:t>Registra un </a:t>
            </a:r>
            <a:r>
              <a:rPr lang="es-AR" sz="1400" b="0" i="0" dirty="0" err="1">
                <a:solidFill>
                  <a:srgbClr val="FFFFFF"/>
                </a:solidFill>
              </a:rPr>
              <a:t>handler</a:t>
            </a:r>
            <a:r>
              <a:rPr lang="es-AR" sz="1400" b="0" i="0" dirty="0">
                <a:solidFill>
                  <a:srgbClr val="FFFFFF"/>
                </a:solidFill>
              </a:rPr>
              <a:t>. Captura la señal y evita el </a:t>
            </a:r>
            <a:r>
              <a:rPr lang="es-AR" sz="1400" b="0" i="0" dirty="0" err="1">
                <a:solidFill>
                  <a:srgbClr val="FFFFFF"/>
                </a:solidFill>
              </a:rPr>
              <a:t>crash</a:t>
            </a:r>
            <a:r>
              <a:rPr lang="es-AR" sz="1400" b="0" i="0" dirty="0">
                <a:solidFill>
                  <a:srgbClr val="FFFFFF"/>
                </a:solidFill>
              </a:rPr>
              <a:t> abrupto.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870448"/>
            <a:ext cx="110642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AR" sz="1400" b="0" i="1" dirty="0">
                <a:solidFill>
                  <a:srgbClr val="BAC2DE"/>
                </a:solidFill>
              </a:rPr>
              <a:t>Flujo: </a:t>
            </a:r>
            <a:r>
              <a:rPr lang="es-AR" sz="1400" b="0" i="1" dirty="0" err="1">
                <a:solidFill>
                  <a:srgbClr val="BAC2DE"/>
                </a:solidFill>
              </a:rPr>
              <a:t>feenableexcept</a:t>
            </a:r>
            <a:r>
              <a:rPr lang="es-AR" sz="1400" b="0" i="1" dirty="0">
                <a:solidFill>
                  <a:srgbClr val="BAC2DE"/>
                </a:solidFill>
              </a:rPr>
              <a:t> activa alertas -&gt; error matemático dispara SIGFPE -&gt; </a:t>
            </a:r>
            <a:r>
              <a:rPr lang="es-AR" sz="1400" b="0" i="1" dirty="0" err="1">
                <a:solidFill>
                  <a:srgbClr val="BAC2DE"/>
                </a:solidFill>
              </a:rPr>
              <a:t>signal</a:t>
            </a:r>
            <a:r>
              <a:rPr lang="es-AR" sz="1400" b="0" i="1" dirty="0">
                <a:solidFill>
                  <a:srgbClr val="BAC2DE"/>
                </a:solidFill>
              </a:rPr>
              <a:t>() redirige a </a:t>
            </a:r>
            <a:r>
              <a:rPr lang="es-AR" sz="1400" b="0" i="1" dirty="0" err="1">
                <a:solidFill>
                  <a:srgbClr val="BAC2DE"/>
                </a:solidFill>
              </a:rPr>
              <a:t>fpe_handler</a:t>
            </a:r>
            <a:r>
              <a:rPr lang="es-AR" sz="1400" b="0" i="1" dirty="0">
                <a:solidFill>
                  <a:srgbClr val="BAC2DE"/>
                </a:solidFill>
              </a:rPr>
              <a:t> -&gt; programa termina de forma controlada.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8E36DC7-DFA2-42F0-B435-BBEB8807247D}">
  <we:reference id="wa200010001" version="1.0.0.1" store="en-US" storeType="OMEX"/>
  <we:alternateReferences>
    <we:reference id="wa200010001" version="1.0.0.1" store="en-US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602</Words>
  <Application>Microsoft Office PowerPoint</Application>
  <PresentationFormat>Personalizado</PresentationFormat>
  <Paragraphs>43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10" baseType="lpstr">
      <vt:lpstr>Arial</vt:lpstr>
      <vt:lpstr>Calibri</vt:lpstr>
      <vt:lpstr>Consolas</vt:lpstr>
      <vt:lpstr>Courier New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subject/>
  <dc:creator/>
  <cp:keywords/>
  <dc:description>generated using python-pptx</dc:description>
  <cp:lastModifiedBy>juan stella</cp:lastModifiedBy>
  <cp:revision>7</cp:revision>
  <dcterms:created xsi:type="dcterms:W3CDTF">2013-01-27T09:14:16Z</dcterms:created>
  <dcterms:modified xsi:type="dcterms:W3CDTF">2026-03-30T23:13:50Z</dcterms:modified>
  <cp:category/>
</cp:coreProperties>
</file>