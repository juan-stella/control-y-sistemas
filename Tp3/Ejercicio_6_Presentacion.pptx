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8" d="100"/>
          <a:sy n="108" d="100"/>
        </p:scale>
        <p:origin x="67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84848"/>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463040"/>
            <a:ext cx="10360152" cy="769441"/>
          </a:xfrm>
          <a:prstGeom prst="rect">
            <a:avLst/>
          </a:prstGeom>
          <a:noFill/>
        </p:spPr>
        <p:txBody>
          <a:bodyPr wrap="square">
            <a:spAutoFit/>
          </a:bodyPr>
          <a:lstStyle/>
          <a:p>
            <a:pPr algn="ctr"/>
            <a:r>
              <a:rPr sz="4400" b="1" i="0" dirty="0" err="1">
                <a:solidFill>
                  <a:srgbClr val="89B4FA"/>
                </a:solidFill>
              </a:rPr>
              <a:t>Ejercicio</a:t>
            </a:r>
            <a:r>
              <a:rPr sz="4400" b="1" i="0" dirty="0">
                <a:solidFill>
                  <a:srgbClr val="89B4FA"/>
                </a:solidFill>
              </a:rPr>
              <a:t> </a:t>
            </a:r>
            <a:r>
              <a:rPr lang="es-MX" sz="4400" b="1" i="0" dirty="0">
                <a:solidFill>
                  <a:srgbClr val="89B4FA"/>
                </a:solidFill>
              </a:rPr>
              <a:t>6</a:t>
            </a:r>
            <a:endParaRPr sz="4400" b="1" i="0" dirty="0">
              <a:solidFill>
                <a:srgbClr val="89B4FA"/>
              </a:solidFill>
            </a:endParaRPr>
          </a:p>
        </p:txBody>
      </p:sp>
      <p:sp>
        <p:nvSpPr>
          <p:cNvPr id="5" name="TextBox 4"/>
          <p:cNvSpPr txBox="1"/>
          <p:nvPr/>
        </p:nvSpPr>
        <p:spPr>
          <a:xfrm>
            <a:off x="914400" y="2468880"/>
            <a:ext cx="10360152" cy="430887"/>
          </a:xfrm>
          <a:prstGeom prst="rect">
            <a:avLst/>
          </a:prstGeom>
          <a:noFill/>
        </p:spPr>
        <p:txBody>
          <a:bodyPr wrap="square">
            <a:spAutoFit/>
          </a:bodyPr>
          <a:lstStyle/>
          <a:p>
            <a:pPr algn="ctr"/>
            <a:r>
              <a:rPr sz="2200" b="0" i="0" dirty="0" err="1">
                <a:solidFill>
                  <a:srgbClr val="BAC2DE"/>
                </a:solidFill>
              </a:rPr>
              <a:t>Excepciones</a:t>
            </a:r>
            <a:r>
              <a:rPr sz="2200" b="0" i="0" dirty="0">
                <a:solidFill>
                  <a:srgbClr val="BAC2DE"/>
                </a:solidFill>
              </a:rPr>
              <a:t> de Punto </a:t>
            </a:r>
            <a:r>
              <a:rPr sz="2200" b="0" i="0" dirty="0" err="1">
                <a:solidFill>
                  <a:srgbClr val="BAC2DE"/>
                </a:solidFill>
              </a:rPr>
              <a:t>Flotante</a:t>
            </a:r>
            <a:r>
              <a:rPr sz="2200" b="0" i="0" dirty="0">
                <a:solidFill>
                  <a:srgbClr val="BAC2DE"/>
                </a:solidFill>
              </a:rPr>
              <a:t> y </a:t>
            </a:r>
            <a:r>
              <a:rPr sz="2200" b="0" i="0" dirty="0" err="1">
                <a:solidFill>
                  <a:srgbClr val="BAC2DE"/>
                </a:solidFill>
              </a:rPr>
              <a:t>Manejo</a:t>
            </a:r>
            <a:r>
              <a:rPr sz="2200" b="0" i="0" dirty="0">
                <a:solidFill>
                  <a:srgbClr val="BAC2DE"/>
                </a:solidFill>
              </a:rPr>
              <a:t> de Se</a:t>
            </a:r>
            <a:r>
              <a:rPr lang="es-MX" sz="2200" dirty="0">
                <a:solidFill>
                  <a:srgbClr val="BAC2DE"/>
                </a:solidFill>
              </a:rPr>
              <a:t>ñ</a:t>
            </a:r>
            <a:r>
              <a:rPr sz="2200" b="0" i="0" dirty="0">
                <a:solidFill>
                  <a:srgbClr val="BAC2DE"/>
                </a:solidFill>
              </a:rPr>
              <a:t>ales </a:t>
            </a:r>
            <a:r>
              <a:rPr sz="2200" b="0" i="0" dirty="0" err="1">
                <a:solidFill>
                  <a:srgbClr val="BAC2DE"/>
                </a:solidFill>
              </a:rPr>
              <a:t>en</a:t>
            </a:r>
            <a:r>
              <a:rPr sz="2200" b="0" i="0" dirty="0">
                <a:solidFill>
                  <a:srgbClr val="BAC2DE"/>
                </a:solidFill>
              </a:rPr>
              <a:t> C</a:t>
            </a:r>
          </a:p>
        </p:txBody>
      </p:sp>
      <p:sp>
        <p:nvSpPr>
          <p:cNvPr id="6" name="TextBox 5"/>
          <p:cNvSpPr txBox="1"/>
          <p:nvPr/>
        </p:nvSpPr>
        <p:spPr>
          <a:xfrm>
            <a:off x="914400" y="5029200"/>
            <a:ext cx="10360152" cy="548640"/>
          </a:xfrm>
          <a:prstGeom prst="rect">
            <a:avLst/>
          </a:prstGeom>
          <a:noFill/>
        </p:spPr>
        <p:txBody>
          <a:bodyPr wrap="square">
            <a:spAutoFit/>
          </a:bodyPr>
          <a:lstStyle/>
          <a:p>
            <a:pPr algn="ctr"/>
            <a:r>
              <a:rPr sz="1500" b="0" i="1">
                <a:solidFill>
                  <a:srgbClr val="BAC2DE"/>
                </a:solidFill>
              </a:rPr>
              <a:t>Control y Sistemas  -  Trabajo Practico 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640080"/>
          </a:xfrm>
          <a:prstGeom prst="rect">
            <a:avLst/>
          </a:prstGeom>
          <a:noFill/>
        </p:spPr>
        <p:txBody>
          <a:bodyPr wrap="square">
            <a:spAutoFit/>
          </a:bodyPr>
          <a:lstStyle/>
          <a:p>
            <a:pPr algn="l"/>
            <a:r>
              <a:rPr sz="2600" b="1" i="0">
                <a:solidFill>
                  <a:srgbClr val="89B4FA"/>
                </a:solidFill>
              </a:rPr>
              <a:t>Pregunta 3  -  Analisis de resultados por consola</a:t>
            </a:r>
          </a:p>
        </p:txBody>
      </p:sp>
      <p:sp>
        <p:nvSpPr>
          <p:cNvPr id="4" name="Rectangle 3"/>
          <p:cNvSpPr/>
          <p:nvPr/>
        </p:nvSpPr>
        <p:spPr>
          <a:xfrm>
            <a:off x="365760" y="822960"/>
            <a:ext cx="114300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05840"/>
            <a:ext cx="11430000" cy="457200"/>
          </a:xfrm>
          <a:prstGeom prst="rect">
            <a:avLst/>
          </a:prstGeom>
          <a:noFill/>
        </p:spPr>
        <p:txBody>
          <a:bodyPr wrap="square">
            <a:spAutoFit/>
          </a:bodyPr>
          <a:lstStyle/>
          <a:p>
            <a:pPr algn="l"/>
            <a:r>
              <a:rPr sz="1800" b="1" i="0">
                <a:solidFill>
                  <a:srgbClr val="F9E2AF"/>
                </a:solidFill>
              </a:rPr>
              <a:t>Son los resultados consistentes con las operaciones ejecutadas?</a:t>
            </a:r>
          </a:p>
        </p:txBody>
      </p:sp>
      <p:sp>
        <p:nvSpPr>
          <p:cNvPr id="6" name="TextBox 5"/>
          <p:cNvSpPr txBox="1"/>
          <p:nvPr/>
        </p:nvSpPr>
        <p:spPr>
          <a:xfrm>
            <a:off x="548640" y="1554480"/>
            <a:ext cx="11064240" cy="2743200"/>
          </a:xfrm>
          <a:prstGeom prst="rect">
            <a:avLst/>
          </a:prstGeom>
          <a:noFill/>
        </p:spPr>
        <p:txBody>
          <a:bodyPr wrap="square">
            <a:spAutoFit/>
          </a:bodyPr>
          <a:lstStyle/>
          <a:p>
            <a:pPr algn="l"/>
            <a:r>
              <a:rPr sz="1700" b="0" i="0">
                <a:solidFill>
                  <a:srgbClr val="FFFFFF"/>
                </a:solidFill>
              </a:rPr>
              <a:t>Si. El programa levanta una excepcion a la vez con feraiseexcept() y la imprime
inmediatamente con show_fe_exceptions().
En el primer bloque se levanta FE_INVALID -&gt; aparece en pantalla.
En el segundo bloque, despues de limpiar con feclearexcept(), se levantan FE_OVERFLOW
y FE_INEXACT simultaneamente -&gt; ambas aparecen juntas en consola.
El resultado es totalmente consistente con las instrucciones del codigo.</a:t>
            </a:r>
          </a:p>
        </p:txBody>
      </p:sp>
      <p:sp>
        <p:nvSpPr>
          <p:cNvPr id="7" name="Rectangle 6"/>
          <p:cNvSpPr/>
          <p:nvPr/>
        </p:nvSpPr>
        <p:spPr>
          <a:xfrm>
            <a:off x="2011680" y="4480560"/>
            <a:ext cx="8138160" cy="91440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76272" y="4617720"/>
            <a:ext cx="7808976" cy="640080"/>
          </a:xfrm>
          <a:prstGeom prst="rect">
            <a:avLst/>
          </a:prstGeom>
          <a:noFill/>
        </p:spPr>
        <p:txBody>
          <a:bodyPr wrap="square">
            <a:spAutoFit/>
          </a:bodyPr>
          <a:lstStyle/>
          <a:p>
            <a:r>
              <a:rPr sz="1300">
                <a:solidFill>
                  <a:srgbClr val="A6E3A1"/>
                </a:solidFill>
                <a:latin typeface="Courier New"/>
              </a:rPr>
              <a:t>current exceptions raised:  FE_INVALID
current exceptions raised:  FE_INEXACT FE_OVERFLOW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640080"/>
          </a:xfrm>
          <a:prstGeom prst="rect">
            <a:avLst/>
          </a:prstGeom>
          <a:noFill/>
        </p:spPr>
        <p:txBody>
          <a:bodyPr wrap="square">
            <a:spAutoFit/>
          </a:bodyPr>
          <a:lstStyle/>
          <a:p>
            <a:pPr algn="l"/>
            <a:r>
              <a:rPr sz="2600" b="1" i="0">
                <a:solidFill>
                  <a:srgbClr val="89B4FA"/>
                </a:solidFill>
              </a:rPr>
              <a:t>Pregunta 5  -  Descomentar feenableexcept()</a:t>
            </a:r>
          </a:p>
        </p:txBody>
      </p:sp>
      <p:sp>
        <p:nvSpPr>
          <p:cNvPr id="4" name="Rectangle 3"/>
          <p:cNvSpPr/>
          <p:nvPr/>
        </p:nvSpPr>
        <p:spPr>
          <a:xfrm>
            <a:off x="365760" y="822960"/>
            <a:ext cx="114300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05840"/>
            <a:ext cx="11430000" cy="457200"/>
          </a:xfrm>
          <a:prstGeom prst="rect">
            <a:avLst/>
          </a:prstGeom>
          <a:noFill/>
        </p:spPr>
        <p:txBody>
          <a:bodyPr wrap="square">
            <a:spAutoFit/>
          </a:bodyPr>
          <a:lstStyle/>
          <a:p>
            <a:pPr algn="l"/>
            <a:r>
              <a:rPr sz="1800" b="1" i="0">
                <a:solidFill>
                  <a:srgbClr val="F9E2AF"/>
                </a:solidFill>
              </a:rPr>
              <a:t>Que se observa? Cual es la funcion de feenableexcept()?</a:t>
            </a:r>
          </a:p>
        </p:txBody>
      </p:sp>
      <p:sp>
        <p:nvSpPr>
          <p:cNvPr id="6" name="TextBox 5"/>
          <p:cNvSpPr txBox="1"/>
          <p:nvPr/>
        </p:nvSpPr>
        <p:spPr>
          <a:xfrm>
            <a:off x="548640" y="1554480"/>
            <a:ext cx="11064240" cy="2743200"/>
          </a:xfrm>
          <a:prstGeom prst="rect">
            <a:avLst/>
          </a:prstGeom>
          <a:noFill/>
        </p:spPr>
        <p:txBody>
          <a:bodyPr wrap="square">
            <a:spAutoFit/>
          </a:bodyPr>
          <a:lstStyle/>
          <a:p>
            <a:pPr algn="l"/>
            <a:r>
              <a:rPr sz="1700" b="0" i="0">
                <a:solidFill>
                  <a:srgbClr val="FFFFFF"/>
                </a:solidFill>
              </a:rPr>
              <a:t>Al activar feenableexcept(FE_ALL_EXCEPT) sin un handler instalado,
el programa termina de forma abrupta con exit code 136.
El codigo 136 corresponde a SIGFPE (Floating Point Exception).
feenableexcept() le ordena al hardware que emita una interrupcion activa (SIGFPE)
cada vez que ocurre un error de punto flotante. Como no hay ningun handler
registrado para capturar esa senal, el sistema operativo mata el proceso.</a:t>
            </a:r>
          </a:p>
        </p:txBody>
      </p:sp>
      <p:sp>
        <p:nvSpPr>
          <p:cNvPr id="7" name="Rectangle 6"/>
          <p:cNvSpPr/>
          <p:nvPr/>
        </p:nvSpPr>
        <p:spPr>
          <a:xfrm>
            <a:off x="2011680" y="4434840"/>
            <a:ext cx="8138160" cy="82296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76272" y="4572000"/>
            <a:ext cx="7808976" cy="548640"/>
          </a:xfrm>
          <a:prstGeom prst="rect">
            <a:avLst/>
          </a:prstGeom>
          <a:noFill/>
        </p:spPr>
        <p:txBody>
          <a:bodyPr wrap="square">
            <a:spAutoFit/>
          </a:bodyPr>
          <a:lstStyle/>
          <a:p>
            <a:r>
              <a:rPr sz="1300">
                <a:solidFill>
                  <a:srgbClr val="A6E3A1"/>
                </a:solidFill>
                <a:latin typeface="Courier New"/>
              </a:rPr>
              <a:t>...Program finished with exit code 136
Press ENTER to exit console.</a:t>
            </a:r>
          </a:p>
        </p:txBody>
      </p:sp>
      <p:sp>
        <p:nvSpPr>
          <p:cNvPr id="9" name="Rectangle 8"/>
          <p:cNvSpPr/>
          <p:nvPr/>
        </p:nvSpPr>
        <p:spPr>
          <a:xfrm>
            <a:off x="365760" y="5394960"/>
            <a:ext cx="11430000" cy="11887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5440680"/>
            <a:ext cx="5486400" cy="411480"/>
          </a:xfrm>
          <a:prstGeom prst="rect">
            <a:avLst/>
          </a:prstGeom>
          <a:noFill/>
        </p:spPr>
        <p:txBody>
          <a:bodyPr wrap="square">
            <a:spAutoFit/>
          </a:bodyPr>
          <a:lstStyle/>
          <a:p>
            <a:pPr algn="l"/>
            <a:r>
              <a:rPr sz="1400" b="1" i="0">
                <a:solidFill>
                  <a:srgbClr val="89B4FA"/>
                </a:solidFill>
              </a:rPr>
              <a:t>Funcion de feenableexcept():</a:t>
            </a:r>
          </a:p>
        </p:txBody>
      </p:sp>
      <p:sp>
        <p:nvSpPr>
          <p:cNvPr id="11" name="TextBox 10"/>
          <p:cNvSpPr txBox="1"/>
          <p:nvPr/>
        </p:nvSpPr>
        <p:spPr>
          <a:xfrm>
            <a:off x="640080" y="5833872"/>
            <a:ext cx="10972800" cy="658368"/>
          </a:xfrm>
          <a:prstGeom prst="rect">
            <a:avLst/>
          </a:prstGeom>
          <a:noFill/>
        </p:spPr>
        <p:txBody>
          <a:bodyPr wrap="square">
            <a:spAutoFit/>
          </a:bodyPr>
          <a:lstStyle/>
          <a:p>
            <a:pPr algn="l"/>
            <a:r>
              <a:rPr sz="1300" b="0" i="0">
                <a:solidFill>
                  <a:srgbClr val="BAC2DE"/>
                </a:solidFill>
              </a:rPr>
              <a:t>Desenenmascara las excepciones del FPU. Las convierte de modo pasivo (solo prende un bit) a modo activo (emite SIGFPE inmediatamente).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640080"/>
          </a:xfrm>
          <a:prstGeom prst="rect">
            <a:avLst/>
          </a:prstGeom>
          <a:noFill/>
        </p:spPr>
        <p:txBody>
          <a:bodyPr wrap="square">
            <a:spAutoFit/>
          </a:bodyPr>
          <a:lstStyle/>
          <a:p>
            <a:pPr algn="l"/>
            <a:r>
              <a:rPr sz="2600" b="1" i="0">
                <a:solidFill>
                  <a:srgbClr val="89B4FA"/>
                </a:solidFill>
              </a:rPr>
              <a:t>Pregunta 7  -  Descomentar signal(SIGFPE, fpe_handler)</a:t>
            </a:r>
          </a:p>
        </p:txBody>
      </p:sp>
      <p:sp>
        <p:nvSpPr>
          <p:cNvPr id="4" name="Rectangle 3"/>
          <p:cNvSpPr/>
          <p:nvPr/>
        </p:nvSpPr>
        <p:spPr>
          <a:xfrm>
            <a:off x="365760" y="822960"/>
            <a:ext cx="114300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05840"/>
            <a:ext cx="11430000" cy="457200"/>
          </a:xfrm>
          <a:prstGeom prst="rect">
            <a:avLst/>
          </a:prstGeom>
          <a:noFill/>
        </p:spPr>
        <p:txBody>
          <a:bodyPr wrap="square">
            <a:spAutoFit/>
          </a:bodyPr>
          <a:lstStyle/>
          <a:p>
            <a:pPr algn="l"/>
            <a:r>
              <a:rPr sz="1800" b="1" i="0">
                <a:solidFill>
                  <a:srgbClr val="F9E2AF"/>
                </a:solidFill>
              </a:rPr>
              <a:t>Que se observa? Cual es el objetivo de signal()?</a:t>
            </a:r>
          </a:p>
        </p:txBody>
      </p:sp>
      <p:sp>
        <p:nvSpPr>
          <p:cNvPr id="6" name="TextBox 5"/>
          <p:cNvSpPr txBox="1"/>
          <p:nvPr/>
        </p:nvSpPr>
        <p:spPr>
          <a:xfrm>
            <a:off x="548640" y="1554480"/>
            <a:ext cx="11064240" cy="2468880"/>
          </a:xfrm>
          <a:prstGeom prst="rect">
            <a:avLst/>
          </a:prstGeom>
          <a:noFill/>
        </p:spPr>
        <p:txBody>
          <a:bodyPr wrap="square">
            <a:spAutoFit/>
          </a:bodyPr>
          <a:lstStyle/>
          <a:p>
            <a:pPr algn="l"/>
            <a:r>
              <a:rPr sz="1700" b="0" i="0">
                <a:solidFill>
                  <a:srgbClr val="FFFFFF"/>
                </a:solidFill>
              </a:rPr>
              <a:t>Al registrar fpe_handler con signal(), cuando ocurre la excepcion el sistema
operativo interrumpe el programa y llama a fpe_handler() en lugar de cerrarlo.
El programa ya no termina con exit 136 (crash), sino con exit 1 (EXIT_FAILURE),
porque es el propio codigo quien llama a exit() de forma controlada.</a:t>
            </a:r>
          </a:p>
        </p:txBody>
      </p:sp>
      <p:sp>
        <p:nvSpPr>
          <p:cNvPr id="7" name="Rectangle 6"/>
          <p:cNvSpPr/>
          <p:nvPr/>
        </p:nvSpPr>
        <p:spPr>
          <a:xfrm>
            <a:off x="2011680" y="4160520"/>
            <a:ext cx="8138160" cy="14173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76272" y="4297680"/>
            <a:ext cx="7808976" cy="1143000"/>
          </a:xfrm>
          <a:prstGeom prst="rect">
            <a:avLst/>
          </a:prstGeom>
          <a:noFill/>
        </p:spPr>
        <p:txBody>
          <a:bodyPr wrap="square">
            <a:spAutoFit/>
          </a:bodyPr>
          <a:lstStyle/>
          <a:p>
            <a:r>
              <a:rPr sz="1300">
                <a:solidFill>
                  <a:srgbClr val="A6E3A1"/>
                </a:solidFill>
                <a:latin typeface="Courier New"/>
              </a:rPr>
              <a:t>UPS! Floating Point Exception
current exceptions raised:  none
...Program finished with exit code 1
Press ENTER to exit console.</a:t>
            </a:r>
          </a:p>
        </p:txBody>
      </p:sp>
      <p:sp>
        <p:nvSpPr>
          <p:cNvPr id="9" name="Rectangle 8"/>
          <p:cNvSpPr/>
          <p:nvPr/>
        </p:nvSpPr>
        <p:spPr>
          <a:xfrm>
            <a:off x="365760" y="5669280"/>
            <a:ext cx="11430000" cy="91440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5715000"/>
            <a:ext cx="4572000" cy="365760"/>
          </a:xfrm>
          <a:prstGeom prst="rect">
            <a:avLst/>
          </a:prstGeom>
          <a:noFill/>
        </p:spPr>
        <p:txBody>
          <a:bodyPr wrap="square">
            <a:spAutoFit/>
          </a:bodyPr>
          <a:lstStyle/>
          <a:p>
            <a:pPr algn="l"/>
            <a:r>
              <a:rPr sz="1400" b="1" i="0">
                <a:solidFill>
                  <a:srgbClr val="89B4FA"/>
                </a:solidFill>
              </a:rPr>
              <a:t>Por que muestra none?</a:t>
            </a:r>
          </a:p>
        </p:txBody>
      </p:sp>
      <p:sp>
        <p:nvSpPr>
          <p:cNvPr id="11" name="TextBox 10"/>
          <p:cNvSpPr txBox="1"/>
          <p:nvPr/>
        </p:nvSpPr>
        <p:spPr>
          <a:xfrm>
            <a:off x="640080" y="6062472"/>
            <a:ext cx="10972800" cy="475488"/>
          </a:xfrm>
          <a:prstGeom prst="rect">
            <a:avLst/>
          </a:prstGeom>
          <a:noFill/>
        </p:spPr>
        <p:txBody>
          <a:bodyPr wrap="square">
            <a:spAutoFit/>
          </a:bodyPr>
          <a:lstStyle/>
          <a:p>
            <a:pPr algn="l"/>
            <a:r>
              <a:rPr sz="1300" b="0" i="0">
                <a:solidFill>
                  <a:srgbClr val="BAC2DE"/>
                </a:solidFill>
              </a:rPr>
              <a:t>En Linux, la senal SIGFPE es entregada tan rapido que las banderas del FPU aun no se propagaron al registro que lee fetestexcept(). Comportamiento del kernel Linux.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640080"/>
          </a:xfrm>
          <a:prstGeom prst="rect">
            <a:avLst/>
          </a:prstGeom>
          <a:noFill/>
        </p:spPr>
        <p:txBody>
          <a:bodyPr wrap="square">
            <a:spAutoFit/>
          </a:bodyPr>
          <a:lstStyle/>
          <a:p>
            <a:pPr algn="l"/>
            <a:r>
              <a:rPr sz="3000" b="1" i="0">
                <a:solidFill>
                  <a:srgbClr val="89B4FA"/>
                </a:solidFill>
              </a:rPr>
              <a:t>Resumen</a:t>
            </a:r>
          </a:p>
        </p:txBody>
      </p:sp>
      <p:sp>
        <p:nvSpPr>
          <p:cNvPr id="4" name="Rectangle 3"/>
          <p:cNvSpPr/>
          <p:nvPr/>
        </p:nvSpPr>
        <p:spPr>
          <a:xfrm>
            <a:off x="365760" y="822960"/>
            <a:ext cx="114300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5760" y="1051560"/>
            <a:ext cx="11430000" cy="7315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097280"/>
            <a:ext cx="2926080" cy="594360"/>
          </a:xfrm>
          <a:prstGeom prst="rect">
            <a:avLst/>
          </a:prstGeom>
          <a:noFill/>
        </p:spPr>
        <p:txBody>
          <a:bodyPr wrap="square">
            <a:spAutoFit/>
          </a:bodyPr>
          <a:lstStyle/>
          <a:p>
            <a:pPr algn="l"/>
            <a:r>
              <a:rPr sz="1500" b="1" i="0">
                <a:solidFill>
                  <a:srgbClr val="89B4FA"/>
                </a:solidFill>
              </a:rPr>
              <a:t>feraiseexcept()</a:t>
            </a:r>
          </a:p>
        </p:txBody>
      </p:sp>
      <p:sp>
        <p:nvSpPr>
          <p:cNvPr id="7" name="TextBox 6"/>
          <p:cNvSpPr txBox="1"/>
          <p:nvPr/>
        </p:nvSpPr>
        <p:spPr>
          <a:xfrm>
            <a:off x="3566160" y="1143000"/>
            <a:ext cx="8046720" cy="502920"/>
          </a:xfrm>
          <a:prstGeom prst="rect">
            <a:avLst/>
          </a:prstGeom>
          <a:noFill/>
        </p:spPr>
        <p:txBody>
          <a:bodyPr wrap="square">
            <a:spAutoFit/>
          </a:bodyPr>
          <a:lstStyle/>
          <a:p>
            <a:pPr algn="l"/>
            <a:r>
              <a:rPr sz="1400" b="0" i="0">
                <a:solidFill>
                  <a:srgbClr val="FFFFFF"/>
                </a:solidFill>
              </a:rPr>
              <a:t>Levanta manualmente una excepcion matematica (modo pasivo).</a:t>
            </a:r>
          </a:p>
        </p:txBody>
      </p:sp>
      <p:sp>
        <p:nvSpPr>
          <p:cNvPr id="8" name="Rectangle 7"/>
          <p:cNvSpPr/>
          <p:nvPr/>
        </p:nvSpPr>
        <p:spPr>
          <a:xfrm>
            <a:off x="365760" y="1874519"/>
            <a:ext cx="11430000" cy="7315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920239"/>
            <a:ext cx="2926080" cy="594360"/>
          </a:xfrm>
          <a:prstGeom prst="rect">
            <a:avLst/>
          </a:prstGeom>
          <a:noFill/>
        </p:spPr>
        <p:txBody>
          <a:bodyPr wrap="square">
            <a:spAutoFit/>
          </a:bodyPr>
          <a:lstStyle/>
          <a:p>
            <a:pPr algn="l"/>
            <a:r>
              <a:rPr sz="1500" b="1" i="0">
                <a:solidFill>
                  <a:srgbClr val="89B4FA"/>
                </a:solidFill>
              </a:rPr>
              <a:t>feclearexcept()</a:t>
            </a:r>
          </a:p>
        </p:txBody>
      </p:sp>
      <p:sp>
        <p:nvSpPr>
          <p:cNvPr id="10" name="TextBox 9"/>
          <p:cNvSpPr txBox="1"/>
          <p:nvPr/>
        </p:nvSpPr>
        <p:spPr>
          <a:xfrm>
            <a:off x="3566160" y="1965960"/>
            <a:ext cx="8046720" cy="502920"/>
          </a:xfrm>
          <a:prstGeom prst="rect">
            <a:avLst/>
          </a:prstGeom>
          <a:noFill/>
        </p:spPr>
        <p:txBody>
          <a:bodyPr wrap="square">
            <a:spAutoFit/>
          </a:bodyPr>
          <a:lstStyle/>
          <a:p>
            <a:pPr algn="l"/>
            <a:r>
              <a:rPr sz="1400" b="0" i="0">
                <a:solidFill>
                  <a:srgbClr val="FFFFFF"/>
                </a:solidFill>
              </a:rPr>
              <a:t>Limpia todas las banderas de excepcion activas.</a:t>
            </a:r>
          </a:p>
        </p:txBody>
      </p:sp>
      <p:sp>
        <p:nvSpPr>
          <p:cNvPr id="11" name="Rectangle 10"/>
          <p:cNvSpPr/>
          <p:nvPr/>
        </p:nvSpPr>
        <p:spPr>
          <a:xfrm>
            <a:off x="365760" y="2697479"/>
            <a:ext cx="11430000" cy="7315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743199"/>
            <a:ext cx="2926080" cy="594360"/>
          </a:xfrm>
          <a:prstGeom prst="rect">
            <a:avLst/>
          </a:prstGeom>
          <a:noFill/>
        </p:spPr>
        <p:txBody>
          <a:bodyPr wrap="square">
            <a:spAutoFit/>
          </a:bodyPr>
          <a:lstStyle/>
          <a:p>
            <a:pPr algn="l"/>
            <a:r>
              <a:rPr sz="1500" b="1" i="0">
                <a:solidFill>
                  <a:srgbClr val="89B4FA"/>
                </a:solidFill>
              </a:rPr>
              <a:t>fetestexcept()</a:t>
            </a:r>
          </a:p>
        </p:txBody>
      </p:sp>
      <p:sp>
        <p:nvSpPr>
          <p:cNvPr id="13" name="TextBox 12"/>
          <p:cNvSpPr txBox="1"/>
          <p:nvPr/>
        </p:nvSpPr>
        <p:spPr>
          <a:xfrm>
            <a:off x="3566160" y="2788920"/>
            <a:ext cx="8046720" cy="502920"/>
          </a:xfrm>
          <a:prstGeom prst="rect">
            <a:avLst/>
          </a:prstGeom>
          <a:noFill/>
        </p:spPr>
        <p:txBody>
          <a:bodyPr wrap="square">
            <a:spAutoFit/>
          </a:bodyPr>
          <a:lstStyle/>
          <a:p>
            <a:pPr algn="l"/>
            <a:r>
              <a:rPr sz="1400" b="0" i="0">
                <a:solidFill>
                  <a:srgbClr val="FFFFFF"/>
                </a:solidFill>
              </a:rPr>
              <a:t>Consulta si una excepcion determinada esta encendida.</a:t>
            </a:r>
          </a:p>
        </p:txBody>
      </p:sp>
      <p:sp>
        <p:nvSpPr>
          <p:cNvPr id="14" name="Rectangle 13"/>
          <p:cNvSpPr/>
          <p:nvPr/>
        </p:nvSpPr>
        <p:spPr>
          <a:xfrm>
            <a:off x="365760" y="3520439"/>
            <a:ext cx="11430000" cy="7315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3566159"/>
            <a:ext cx="2926080" cy="594360"/>
          </a:xfrm>
          <a:prstGeom prst="rect">
            <a:avLst/>
          </a:prstGeom>
          <a:noFill/>
        </p:spPr>
        <p:txBody>
          <a:bodyPr wrap="square">
            <a:spAutoFit/>
          </a:bodyPr>
          <a:lstStyle/>
          <a:p>
            <a:pPr algn="l"/>
            <a:r>
              <a:rPr sz="1500" b="1" i="0">
                <a:solidFill>
                  <a:srgbClr val="F38BA8"/>
                </a:solidFill>
              </a:rPr>
              <a:t>feenableexcept()</a:t>
            </a:r>
          </a:p>
        </p:txBody>
      </p:sp>
      <p:sp>
        <p:nvSpPr>
          <p:cNvPr id="16" name="TextBox 15"/>
          <p:cNvSpPr txBox="1"/>
          <p:nvPr/>
        </p:nvSpPr>
        <p:spPr>
          <a:xfrm>
            <a:off x="3566160" y="3611879"/>
            <a:ext cx="8046720" cy="502920"/>
          </a:xfrm>
          <a:prstGeom prst="rect">
            <a:avLst/>
          </a:prstGeom>
          <a:noFill/>
        </p:spPr>
        <p:txBody>
          <a:bodyPr wrap="square">
            <a:spAutoFit/>
          </a:bodyPr>
          <a:lstStyle/>
          <a:p>
            <a:pPr algn="l"/>
            <a:r>
              <a:rPr sz="1400" b="0" i="0">
                <a:solidFill>
                  <a:srgbClr val="FFFFFF"/>
                </a:solidFill>
              </a:rPr>
              <a:t>Activa modo de excepcion activa: emite SIGFPE al ocurrir un error.</a:t>
            </a:r>
          </a:p>
        </p:txBody>
      </p:sp>
      <p:sp>
        <p:nvSpPr>
          <p:cNvPr id="17" name="Rectangle 16"/>
          <p:cNvSpPr/>
          <p:nvPr/>
        </p:nvSpPr>
        <p:spPr>
          <a:xfrm>
            <a:off x="365760" y="4343400"/>
            <a:ext cx="11430000" cy="731520"/>
          </a:xfrm>
          <a:prstGeom prst="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4389120"/>
            <a:ext cx="2926080" cy="594360"/>
          </a:xfrm>
          <a:prstGeom prst="rect">
            <a:avLst/>
          </a:prstGeom>
          <a:noFill/>
        </p:spPr>
        <p:txBody>
          <a:bodyPr wrap="square">
            <a:spAutoFit/>
          </a:bodyPr>
          <a:lstStyle/>
          <a:p>
            <a:pPr algn="l"/>
            <a:r>
              <a:rPr sz="1500" b="1" i="0">
                <a:solidFill>
                  <a:srgbClr val="A6E3A1"/>
                </a:solidFill>
              </a:rPr>
              <a:t>signal(SIGFPE, fn)</a:t>
            </a:r>
          </a:p>
        </p:txBody>
      </p:sp>
      <p:sp>
        <p:nvSpPr>
          <p:cNvPr id="19" name="TextBox 18"/>
          <p:cNvSpPr txBox="1"/>
          <p:nvPr/>
        </p:nvSpPr>
        <p:spPr>
          <a:xfrm>
            <a:off x="3566160" y="4434840"/>
            <a:ext cx="8046720" cy="502920"/>
          </a:xfrm>
          <a:prstGeom prst="rect">
            <a:avLst/>
          </a:prstGeom>
          <a:noFill/>
        </p:spPr>
        <p:txBody>
          <a:bodyPr wrap="square">
            <a:spAutoFit/>
          </a:bodyPr>
          <a:lstStyle/>
          <a:p>
            <a:pPr algn="l"/>
            <a:r>
              <a:rPr sz="1400" b="0" i="0">
                <a:solidFill>
                  <a:srgbClr val="FFFFFF"/>
                </a:solidFill>
              </a:rPr>
              <a:t>Registra un handler. Captura la senal y evita el crash abrupto.</a:t>
            </a:r>
          </a:p>
        </p:txBody>
      </p:sp>
      <p:sp>
        <p:nvSpPr>
          <p:cNvPr id="20" name="TextBox 19"/>
          <p:cNvSpPr txBox="1"/>
          <p:nvPr/>
        </p:nvSpPr>
        <p:spPr>
          <a:xfrm>
            <a:off x="548640" y="5870448"/>
            <a:ext cx="11064240" cy="685800"/>
          </a:xfrm>
          <a:prstGeom prst="rect">
            <a:avLst/>
          </a:prstGeom>
          <a:noFill/>
        </p:spPr>
        <p:txBody>
          <a:bodyPr wrap="square">
            <a:spAutoFit/>
          </a:bodyPr>
          <a:lstStyle/>
          <a:p>
            <a:pPr algn="l"/>
            <a:r>
              <a:rPr sz="1400" b="0" i="1">
                <a:solidFill>
                  <a:srgbClr val="BAC2DE"/>
                </a:solidFill>
              </a:rPr>
              <a:t>Flujo: feenableexcept activa alertas -&gt; error matematico dispara SIGFPE -&gt; signal() redirige a fpe_handler -&gt; programa termina de forma controlada.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530</Words>
  <Application>Microsoft Office PowerPoint</Application>
  <PresentationFormat>Personalizado</PresentationFormat>
  <Paragraphs>31</Paragraphs>
  <Slides>5</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Arial</vt:lpstr>
      <vt:lpstr>Calibri</vt:lpstr>
      <vt:lpstr>Courier New</vt:lpstr>
      <vt:lpstr>Office Theme</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cp:revision>
  <dcterms:created xsi:type="dcterms:W3CDTF">2013-01-27T09:14:16Z</dcterms:created>
  <dcterms:modified xsi:type="dcterms:W3CDTF">2026-03-27T20:17:40Z</dcterms:modified>
  <cp:category/>
</cp:coreProperties>
</file>