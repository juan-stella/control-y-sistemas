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14" y="2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rgbClr val="89B4FA"/>
                </a:solidFill>
              </a:rPr>
              <a:t>Ejercicio</a:t>
            </a:r>
            <a:r>
              <a:rPr sz="4400" b="1" i="0" dirty="0">
                <a:solidFill>
                  <a:srgbClr val="89B4FA"/>
                </a:solidFill>
              </a:rPr>
              <a:t> </a:t>
            </a:r>
            <a:r>
              <a:rPr lang="es-MX" sz="4400" b="1" i="0" dirty="0">
                <a:solidFill>
                  <a:srgbClr val="89B4FA"/>
                </a:solidFill>
              </a:rPr>
              <a:t>6</a:t>
            </a:r>
            <a:endParaRPr sz="4400" b="1" i="0" dirty="0">
              <a:solidFill>
                <a:srgbClr val="89B4F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01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 dirty="0" err="1">
                <a:solidFill>
                  <a:srgbClr val="BAC2DE"/>
                </a:solidFill>
              </a:rPr>
              <a:t>Excepciones</a:t>
            </a:r>
            <a:r>
              <a:rPr sz="2200" b="0" i="0" dirty="0">
                <a:solidFill>
                  <a:srgbClr val="BAC2DE"/>
                </a:solidFill>
              </a:rPr>
              <a:t> de Punto </a:t>
            </a:r>
            <a:r>
              <a:rPr sz="2200" b="0" i="0" dirty="0" err="1">
                <a:solidFill>
                  <a:srgbClr val="BAC2DE"/>
                </a:solidFill>
              </a:rPr>
              <a:t>Flotante</a:t>
            </a:r>
            <a:r>
              <a:rPr sz="2200" b="0" i="0" dirty="0">
                <a:solidFill>
                  <a:srgbClr val="BAC2DE"/>
                </a:solidFill>
              </a:rPr>
              <a:t> y </a:t>
            </a:r>
            <a:r>
              <a:rPr sz="2200" b="0" i="0" dirty="0" err="1">
                <a:solidFill>
                  <a:srgbClr val="BAC2DE"/>
                </a:solidFill>
              </a:rPr>
              <a:t>Manejo</a:t>
            </a:r>
            <a:r>
              <a:rPr sz="2200" b="0" i="0" dirty="0">
                <a:solidFill>
                  <a:srgbClr val="BAC2DE"/>
                </a:solidFill>
              </a:rPr>
              <a:t> de Se</a:t>
            </a:r>
            <a:r>
              <a:rPr lang="es-MX" sz="2200" dirty="0">
                <a:solidFill>
                  <a:srgbClr val="BAC2DE"/>
                </a:solidFill>
              </a:rPr>
              <a:t>ñ</a:t>
            </a:r>
            <a:r>
              <a:rPr sz="2200" b="0" i="0" dirty="0">
                <a:solidFill>
                  <a:srgbClr val="BAC2DE"/>
                </a:solidFill>
              </a:rPr>
              <a:t>ales </a:t>
            </a:r>
            <a:r>
              <a:rPr sz="2200" b="0" i="0" dirty="0" err="1">
                <a:solidFill>
                  <a:srgbClr val="BAC2DE"/>
                </a:solidFill>
              </a:rPr>
              <a:t>en</a:t>
            </a:r>
            <a:r>
              <a:rPr sz="2200" b="0" i="0" dirty="0">
                <a:solidFill>
                  <a:srgbClr val="BAC2DE"/>
                </a:solidFill>
              </a:rPr>
              <a:t>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AC2DE"/>
                </a:solidFill>
              </a:rPr>
              <a:t>Control y Sistemas  -  Trabajo Practico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3  -  Analisis de resultados por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Son los resultados consistentes con las operaciones ejecutadas?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170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Si. El programa levanta una excepción a la vez con </a:t>
            </a:r>
            <a:r>
              <a:rPr lang="es-AR" sz="1700" b="0" i="0" dirty="0" err="1">
                <a:solidFill>
                  <a:srgbClr val="FFFFFF"/>
                </a:solidFill>
              </a:rPr>
              <a:t>feraiseexcept</a:t>
            </a:r>
            <a:r>
              <a:rPr lang="es-AR" sz="1700" b="0" i="0" dirty="0">
                <a:solidFill>
                  <a:srgbClr val="FFFFFF"/>
                </a:solidFill>
              </a:rPr>
              <a:t>() y la imprime
inmediatamente con </a:t>
            </a:r>
            <a:r>
              <a:rPr lang="es-AR" sz="1700" b="0" i="0" dirty="0" err="1">
                <a:solidFill>
                  <a:srgbClr val="FFFFFF"/>
                </a:solidFill>
              </a:rPr>
              <a:t>show_fe_exceptions</a:t>
            </a:r>
            <a:r>
              <a:rPr lang="es-AR" sz="1700" b="0" i="0" dirty="0">
                <a:solidFill>
                  <a:srgbClr val="FFFFFF"/>
                </a:solidFill>
              </a:rPr>
              <a:t>().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dirty="0">
                <a:solidFill>
                  <a:srgbClr val="A6E22E"/>
                </a:solidFill>
                <a:latin typeface="Consolas" panose="020B0609020204030204" pitchFamily="49" charset="0"/>
              </a:rPr>
              <a:t> 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(FE_INVALID);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</a:b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//~ /*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Temporarily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two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AR" sz="1600" b="0" dirty="0" err="1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es-AR" sz="1600" b="0" dirty="0">
                <a:solidFill>
                  <a:srgbClr val="88846F"/>
                </a:solidFill>
                <a:effectLst/>
                <a:latin typeface="Consolas" panose="020B0609020204030204" pitchFamily="49" charset="0"/>
              </a:rPr>
              <a:t>. */</a:t>
            </a:r>
            <a:endParaRPr lang="es-AR" sz="1600" b="0" dirty="0">
              <a:solidFill>
                <a:srgbClr val="F8F8F2"/>
              </a:solidFill>
              <a:effectLst/>
              <a:latin typeface="Consolas" panose="020B0609020204030204" pitchFamily="49" charset="0"/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feraiseexcept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(FE_OVERFLOW </a:t>
            </a:r>
            <a:r>
              <a:rPr lang="es-AR" sz="1600" b="0" dirty="0">
                <a:solidFill>
                  <a:srgbClr val="F92672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 FE_INEXACT);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show_fe_exceptions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En el primer bloque se levanta FE_INVALID -&gt; aparece en pantalla.
En el segundo bloque, después de limpiar con </a:t>
            </a:r>
            <a:r>
              <a:rPr lang="es-AR" sz="1700" b="0" i="0" dirty="0" err="1">
                <a:solidFill>
                  <a:srgbClr val="FFFFFF"/>
                </a:solidFill>
              </a:rPr>
              <a:t>feclearexcept</a:t>
            </a:r>
            <a:r>
              <a:rPr lang="es-AR" sz="1700" b="0" i="0" dirty="0">
                <a:solidFill>
                  <a:srgbClr val="FFFFFF"/>
                </a:solidFill>
              </a:rPr>
              <a:t>(), se levantan FE_OVERFLOW
y FE_INEXACT simultáneamente -&gt; ambas aparecen juntas en consola.
El resultado es totalmente consistente con las instrucciones del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29940" y="5728317"/>
            <a:ext cx="8138160" cy="914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94532" y="5865477"/>
            <a:ext cx="7808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current exceptions raised:  FE_INVALID
current exceptions raised:  FE_INEXACT FE_OVERFLOW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5  -  Descomentar feenableexcept()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E2AF"/>
                </a:solidFill>
              </a:rPr>
              <a:t>Que se observa? Cual es la funcion de feenableexcept()?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Al activar </a:t>
            </a:r>
            <a:r>
              <a:rPr lang="es-AR" sz="1700" b="0" i="0" dirty="0" err="1">
                <a:solidFill>
                  <a:srgbClr val="FFFFFF"/>
                </a:solidFill>
              </a:rPr>
              <a:t>feenableexcept</a:t>
            </a:r>
            <a:r>
              <a:rPr lang="es-AR" sz="1700" b="0" i="0" dirty="0">
                <a:solidFill>
                  <a:srgbClr val="FFFFFF"/>
                </a:solidFill>
              </a:rPr>
              <a:t>(FE_ALL_EXCEPT) sin un </a:t>
            </a:r>
            <a:r>
              <a:rPr lang="es-AR" sz="1700" b="0" i="0" dirty="0" err="1">
                <a:solidFill>
                  <a:srgbClr val="FFFFFF"/>
                </a:solidFill>
              </a:rPr>
              <a:t>handler</a:t>
            </a:r>
            <a:r>
              <a:rPr lang="es-AR" sz="1700" b="0" i="0" dirty="0">
                <a:solidFill>
                  <a:srgbClr val="FFFFFF"/>
                </a:solidFill>
              </a:rPr>
              <a:t> instalado,
el programa termina de forma abrupta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</a:t>
            </a:r>
            <a:r>
              <a:rPr lang="es-AR" sz="1700" b="0" i="0" dirty="0" err="1">
                <a:solidFill>
                  <a:srgbClr val="FFFFFF"/>
                </a:solidFill>
              </a:rPr>
              <a:t>code</a:t>
            </a:r>
            <a:r>
              <a:rPr lang="es-AR" sz="1700" b="0" i="0" dirty="0">
                <a:solidFill>
                  <a:srgbClr val="FFFFFF"/>
                </a:solidFill>
              </a:rPr>
              <a:t> 136.</a:t>
            </a:r>
          </a:p>
          <a:p>
            <a:pPr algn="l"/>
            <a:endParaRPr lang="es-AR" sz="1700" b="0" i="0" dirty="0">
              <a:solidFill>
                <a:srgbClr val="FFFFFF"/>
              </a:solidFill>
            </a:endParaRP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feclearexcept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 (FE_ALL_EXCEPT);</a:t>
            </a:r>
          </a:p>
          <a:p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s-AR" sz="1600" b="0" dirty="0" err="1">
                <a:solidFill>
                  <a:srgbClr val="A6E22E"/>
                </a:solidFill>
                <a:effectLst/>
                <a:latin typeface="Consolas" panose="020B0609020204030204" pitchFamily="49" charset="0"/>
              </a:rPr>
              <a:t>feenableexcept</a:t>
            </a:r>
            <a:r>
              <a:rPr lang="es-AR" sz="1600" b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(FE_ALL_EXCEPT); </a:t>
            </a:r>
          </a:p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
El código 136 corresponde a SIGFPE (</a:t>
            </a:r>
            <a:r>
              <a:rPr lang="es-AR" sz="1700" b="0" i="0" dirty="0" err="1">
                <a:solidFill>
                  <a:srgbClr val="FFFFFF"/>
                </a:solidFill>
              </a:rPr>
              <a:t>Floating</a:t>
            </a:r>
            <a:r>
              <a:rPr lang="es-AR" sz="1700" b="0" i="0" dirty="0">
                <a:solidFill>
                  <a:srgbClr val="FFFFFF"/>
                </a:solidFill>
              </a:rPr>
              <a:t> Point </a:t>
            </a:r>
            <a:r>
              <a:rPr lang="es-AR" sz="1700" b="0" i="0" dirty="0" err="1">
                <a:solidFill>
                  <a:srgbClr val="FFFFFF"/>
                </a:solidFill>
              </a:rPr>
              <a:t>Exception</a:t>
            </a:r>
            <a:r>
              <a:rPr lang="es-AR" sz="1700" b="0" i="0" dirty="0">
                <a:solidFill>
                  <a:srgbClr val="FFFFFF"/>
                </a:solidFill>
              </a:rPr>
              <a:t>).
</a:t>
            </a:r>
            <a:r>
              <a:rPr lang="es-AR" sz="1700" b="0" i="0" dirty="0" err="1">
                <a:solidFill>
                  <a:srgbClr val="FFFFFF"/>
                </a:solidFill>
              </a:rPr>
              <a:t>feenableexcept</a:t>
            </a:r>
            <a:r>
              <a:rPr lang="es-AR" sz="1700" b="0" i="0" dirty="0">
                <a:solidFill>
                  <a:srgbClr val="FFFFFF"/>
                </a:solidFill>
              </a:rPr>
              <a:t>() le ordena al hardware que emita una interrupción activa (SIGFPE)
cada vez que ocurre un error de punto flotante. Como no hay ningún </a:t>
            </a:r>
            <a:r>
              <a:rPr lang="es-AR" sz="1700" b="0" i="0" dirty="0" err="1">
                <a:solidFill>
                  <a:srgbClr val="FFFFFF"/>
                </a:solidFill>
              </a:rPr>
              <a:t>handler</a:t>
            </a:r>
            <a:r>
              <a:rPr lang="es-AR" sz="1700" b="0" i="0" dirty="0">
                <a:solidFill>
                  <a:srgbClr val="FFFFFF"/>
                </a:solidFill>
              </a:rPr>
              <a:t>
registrado para capturar esa señal, el sistema operativo mata el proceso.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74329" y="4493746"/>
            <a:ext cx="8138160" cy="8229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38921" y="4630906"/>
            <a:ext cx="78089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6E3A1"/>
                </a:solidFill>
                <a:latin typeface="Courier New"/>
              </a:rPr>
              <a:t>...Program finished with exit code 136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394960"/>
            <a:ext cx="11430000" cy="11887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9B4FA"/>
                </a:solidFill>
              </a:rPr>
              <a:t>Funcion de feenableexcept():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AC2DE"/>
                </a:solidFill>
              </a:rPr>
              <a:t>Desenenmascara las excepciones del FPU. Las convierte de modo pasivo (solo prende un bit) a modo activo (emite SIGFPE inmediatamente).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9B4FA"/>
                </a:solidFill>
              </a:rPr>
              <a:t>Pregunta 7  -  Descomentar signal(SIGFPE, fpe_handler)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800" b="1" i="0" dirty="0">
                <a:solidFill>
                  <a:srgbClr val="F9E2AF"/>
                </a:solidFill>
              </a:rPr>
              <a:t>Que se observa? Cual es el objetivo de </a:t>
            </a:r>
            <a:r>
              <a:rPr lang="es-AR" sz="1800" b="1" i="0" dirty="0" err="1">
                <a:solidFill>
                  <a:srgbClr val="F9E2AF"/>
                </a:solidFill>
              </a:rPr>
              <a:t>signal</a:t>
            </a:r>
            <a:r>
              <a:rPr lang="es-AR" sz="1800" b="1" i="0" dirty="0">
                <a:solidFill>
                  <a:srgbClr val="F9E2AF"/>
                </a:solidFill>
              </a:rPr>
              <a:t>()?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700" b="0" i="0" dirty="0">
                <a:solidFill>
                  <a:srgbClr val="FFFFFF"/>
                </a:solidFill>
              </a:rPr>
              <a:t>Al registrar </a:t>
            </a:r>
            <a:r>
              <a:rPr lang="es-AR" sz="1700" b="0" i="0" dirty="0" err="1">
                <a:solidFill>
                  <a:srgbClr val="FFFFFF"/>
                </a:solidFill>
              </a:rPr>
              <a:t>fpe_handler</a:t>
            </a:r>
            <a:r>
              <a:rPr lang="es-AR" sz="1700" b="0" i="0" dirty="0">
                <a:solidFill>
                  <a:srgbClr val="FFFFFF"/>
                </a:solidFill>
              </a:rPr>
              <a:t> con </a:t>
            </a:r>
            <a:r>
              <a:rPr lang="es-AR" sz="1700" b="0" i="0" dirty="0" err="1">
                <a:solidFill>
                  <a:srgbClr val="FFFFFF"/>
                </a:solidFill>
              </a:rPr>
              <a:t>signal</a:t>
            </a:r>
            <a:r>
              <a:rPr lang="es-AR" sz="1700" b="0" i="0" dirty="0">
                <a:solidFill>
                  <a:srgbClr val="FFFFFF"/>
                </a:solidFill>
              </a:rPr>
              <a:t>(), cuando ocurre la excepción el sistema
operativo interrumpe el programa y llama a </a:t>
            </a:r>
            <a:r>
              <a:rPr lang="es-AR" sz="1700" b="0" i="0" dirty="0" err="1">
                <a:solidFill>
                  <a:srgbClr val="FFFFFF"/>
                </a:solidFill>
              </a:rPr>
              <a:t>fpe_handler</a:t>
            </a:r>
            <a:r>
              <a:rPr lang="es-AR" sz="1700" b="0" i="0" dirty="0">
                <a:solidFill>
                  <a:srgbClr val="FFFFFF"/>
                </a:solidFill>
              </a:rPr>
              <a:t>() en lugar de cerrarlo.
El programa ya no termina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136 (</a:t>
            </a:r>
            <a:r>
              <a:rPr lang="es-AR" sz="1700" b="0" i="0" dirty="0" err="1">
                <a:solidFill>
                  <a:srgbClr val="FFFFFF"/>
                </a:solidFill>
              </a:rPr>
              <a:t>crash</a:t>
            </a:r>
            <a:r>
              <a:rPr lang="es-AR" sz="1700" b="0" i="0" dirty="0">
                <a:solidFill>
                  <a:srgbClr val="FFFFFF"/>
                </a:solidFill>
              </a:rPr>
              <a:t>), sino con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 1 (EXIT_FAILURE),
porque es el propio código quien llama a </a:t>
            </a:r>
            <a:r>
              <a:rPr lang="es-AR" sz="1700" b="0" i="0" dirty="0" err="1">
                <a:solidFill>
                  <a:srgbClr val="FFFFFF"/>
                </a:solidFill>
              </a:rPr>
              <a:t>exit</a:t>
            </a:r>
            <a:r>
              <a:rPr lang="es-AR" sz="1700" b="0" i="0" dirty="0">
                <a:solidFill>
                  <a:srgbClr val="FFFFFF"/>
                </a:solidFill>
              </a:rPr>
              <a:t>() de forma controlada.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648456"/>
            <a:ext cx="8138160" cy="1417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76272" y="3785616"/>
            <a:ext cx="780897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A6E3A1"/>
                </a:solidFill>
                <a:latin typeface="Courier New"/>
              </a:rPr>
              <a:t>UPS! Floating Point Exception
current exceptions raised:  none
...Program finished with exit code 1
Press ENTER to exit console.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468112"/>
            <a:ext cx="11430000" cy="9144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49554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1" i="0" dirty="0">
                <a:solidFill>
                  <a:srgbClr val="89B4FA"/>
                </a:solidFill>
              </a:rPr>
              <a:t>Por que muestra </a:t>
            </a:r>
            <a:r>
              <a:rPr lang="es-AR" sz="1400" b="1" i="0" dirty="0" err="1">
                <a:solidFill>
                  <a:srgbClr val="89B4FA"/>
                </a:solidFill>
              </a:rPr>
              <a:t>none</a:t>
            </a:r>
            <a:r>
              <a:rPr lang="es-AR" sz="1400" b="1" i="0" dirty="0">
                <a:solidFill>
                  <a:srgbClr val="89B4FA"/>
                </a:solidFill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97296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300" b="0" i="0" dirty="0">
                <a:solidFill>
                  <a:srgbClr val="BAC2DE"/>
                </a:solidFill>
              </a:rPr>
              <a:t>En Linux, la señal SIGFPE es entregada tan rápido que las banderas del FPU aun no se propagaron al registro que lee </a:t>
            </a:r>
            <a:r>
              <a:rPr lang="es-AR" sz="1300" b="0" i="0" dirty="0" err="1">
                <a:solidFill>
                  <a:srgbClr val="BAC2DE"/>
                </a:solidFill>
              </a:rPr>
              <a:t>fetestexcept</a:t>
            </a:r>
            <a:r>
              <a:rPr lang="es-AR" sz="1300" b="0" i="0" dirty="0">
                <a:solidFill>
                  <a:srgbClr val="BAC2DE"/>
                </a:solidFill>
              </a:rPr>
              <a:t>(). Comportamiento del </a:t>
            </a:r>
            <a:r>
              <a:rPr lang="es-AR" sz="1300" b="0" i="0" dirty="0" err="1">
                <a:solidFill>
                  <a:srgbClr val="BAC2DE"/>
                </a:solidFill>
              </a:rPr>
              <a:t>kernel</a:t>
            </a:r>
            <a:r>
              <a:rPr lang="es-AR" sz="1300" b="0" i="0" dirty="0">
                <a:solidFill>
                  <a:srgbClr val="BAC2DE"/>
                </a:solidFill>
              </a:rPr>
              <a:t> Linux.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89B4FA"/>
                </a:solidFill>
              </a:rPr>
              <a:t>Resumen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feraiseexcept()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4300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Levanta manualmente una excepción matemática (modo pasivo).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2023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feclearexcept()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Limpia todas las banderas de excepción activas.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7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74319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9B4FA"/>
                </a:solidFill>
              </a:rPr>
              <a:t>fetestexcept()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Consulta si una excepción determinada esta encendida.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0439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566159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8BA8"/>
                </a:solidFill>
              </a:rPr>
              <a:t>feenableexcept()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611879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Activa modo de excepción activa: emite SIGFPE al ocurrir un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43400"/>
            <a:ext cx="11430000" cy="7315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6E3A1"/>
                </a:solidFill>
              </a:rPr>
              <a:t>signal(SIGFPE, fn)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34840"/>
            <a:ext cx="8046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0" dirty="0">
                <a:solidFill>
                  <a:srgbClr val="FFFFFF"/>
                </a:solidFill>
              </a:rPr>
              <a:t>Registra un </a:t>
            </a:r>
            <a:r>
              <a:rPr lang="es-AR" sz="1400" b="0" i="0" dirty="0" err="1">
                <a:solidFill>
                  <a:srgbClr val="FFFFFF"/>
                </a:solidFill>
              </a:rPr>
              <a:t>handler</a:t>
            </a:r>
            <a:r>
              <a:rPr lang="es-AR" sz="1400" b="0" i="0" dirty="0">
                <a:solidFill>
                  <a:srgbClr val="FFFFFF"/>
                </a:solidFill>
              </a:rPr>
              <a:t>. Captura la señal y evita el </a:t>
            </a:r>
            <a:r>
              <a:rPr lang="es-AR" sz="1400" b="0" i="0" dirty="0" err="1">
                <a:solidFill>
                  <a:srgbClr val="FFFFFF"/>
                </a:solidFill>
              </a:rPr>
              <a:t>crash</a:t>
            </a:r>
            <a:r>
              <a:rPr lang="es-AR" sz="1400" b="0" i="0" dirty="0">
                <a:solidFill>
                  <a:srgbClr val="FFFFFF"/>
                </a:solidFill>
              </a:rPr>
              <a:t> abrupto.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0448"/>
            <a:ext cx="11064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400" b="0" i="1" dirty="0">
                <a:solidFill>
                  <a:srgbClr val="BAC2DE"/>
                </a:solidFill>
              </a:rPr>
              <a:t>Flujo: </a:t>
            </a:r>
            <a:r>
              <a:rPr lang="es-AR" sz="1400" b="0" i="1" dirty="0" err="1">
                <a:solidFill>
                  <a:srgbClr val="BAC2DE"/>
                </a:solidFill>
              </a:rPr>
              <a:t>feenableexcept</a:t>
            </a:r>
            <a:r>
              <a:rPr lang="es-AR" sz="1400" b="0" i="1" dirty="0">
                <a:solidFill>
                  <a:srgbClr val="BAC2DE"/>
                </a:solidFill>
              </a:rPr>
              <a:t> activa alertas -&gt; error matemático dispara SIGFPE -&gt; </a:t>
            </a:r>
            <a:r>
              <a:rPr lang="es-AR" sz="1400" b="0" i="1" dirty="0" err="1">
                <a:solidFill>
                  <a:srgbClr val="BAC2DE"/>
                </a:solidFill>
              </a:rPr>
              <a:t>signal</a:t>
            </a:r>
            <a:r>
              <a:rPr lang="es-AR" sz="1400" b="0" i="1" dirty="0">
                <a:solidFill>
                  <a:srgbClr val="BAC2DE"/>
                </a:solidFill>
              </a:rPr>
              <a:t>() redirige a </a:t>
            </a:r>
            <a:r>
              <a:rPr lang="es-AR" sz="1400" b="0" i="1" dirty="0" err="1">
                <a:solidFill>
                  <a:srgbClr val="BAC2DE"/>
                </a:solidFill>
              </a:rPr>
              <a:t>fpe_handler</a:t>
            </a:r>
            <a:r>
              <a:rPr lang="es-AR" sz="1400" b="0" i="1" dirty="0">
                <a:solidFill>
                  <a:srgbClr val="BAC2DE"/>
                </a:solidFill>
              </a:rPr>
              <a:t> -&gt; programa termina de forma controlada.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8E36DC7-DFA2-42F0-B435-BBEB8807247D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605</Words>
  <Application>Microsoft Office PowerPoint</Application>
  <PresentationFormat>Personalizado</PresentationFormat>
  <Paragraphs>43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Consolas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juan stella</cp:lastModifiedBy>
  <cp:revision>6</cp:revision>
  <dcterms:created xsi:type="dcterms:W3CDTF">2013-01-27T09:14:16Z</dcterms:created>
  <dcterms:modified xsi:type="dcterms:W3CDTF">2026-03-30T12:54:42Z</dcterms:modified>
  <cp:category/>
</cp:coreProperties>
</file>