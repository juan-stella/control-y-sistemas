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2CB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3474720"/>
            <a:ext cx="9144000" cy="1668780"/>
          </a:xfrm>
          <a:prstGeom prst="rect">
            <a:avLst/>
          </a:prstGeom>
          <a:solidFill>
            <a:srgbClr val="1A2E45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3716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3A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1 0 1 1 0 0 1 0 1 1 0 1 0 0 1 1 0 1 0 1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73152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Representación Finita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365760" y="150876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Números Reales en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365760" y="219456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8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FIJO</a:t>
            </a:r>
            <a:endParaRPr lang="en-US" sz="5800" dirty="0"/>
          </a:p>
        </p:txBody>
      </p:sp>
      <p:sp>
        <p:nvSpPr>
          <p:cNvPr id="8" name="Text 6"/>
          <p:cNvSpPr/>
          <p:nvPr/>
        </p:nvSpPr>
        <p:spPr>
          <a:xfrm>
            <a:off x="365760" y="36118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y Sistemas · Unidad 1.B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4206240"/>
            <a:ext cx="1600200" cy="320040"/>
          </a:xfrm>
          <a:prstGeom prst="rect">
            <a:avLst>
              <a:gd name="adj" fmla="val 14286"/>
            </a:avLst>
          </a:prstGeom>
          <a:solidFill>
            <a:srgbClr val="1A2E45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420624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Representación Qm.n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103120" y="4206240"/>
            <a:ext cx="1600200" cy="320040"/>
          </a:xfrm>
          <a:prstGeom prst="rect">
            <a:avLst>
              <a:gd name="adj" fmla="val 14286"/>
            </a:avLst>
          </a:prstGeom>
          <a:solidFill>
            <a:srgbClr val="1A2E45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03120" y="420624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Aritmética C2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840480" y="4206240"/>
            <a:ext cx="1600200" cy="320040"/>
          </a:xfrm>
          <a:prstGeom prst="rect">
            <a:avLst>
              <a:gd name="adj" fmla="val 14286"/>
            </a:avLst>
          </a:prstGeom>
          <a:solidFill>
            <a:srgbClr val="1A2E45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0" y="420624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Overflow &amp; Underflow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577840" y="4206240"/>
            <a:ext cx="1600200" cy="320040"/>
          </a:xfrm>
          <a:prstGeom prst="rect">
            <a:avLst>
              <a:gd name="adj" fmla="val 14286"/>
            </a:avLst>
          </a:prstGeom>
          <a:solidFill>
            <a:srgbClr val="1A2E45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77840" y="420624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Redondeo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315200" y="4206240"/>
            <a:ext cx="1600200" cy="320040"/>
          </a:xfrm>
          <a:prstGeom prst="rect">
            <a:avLst>
              <a:gd name="adj" fmla="val 14286"/>
            </a:avLst>
          </a:prstGeom>
          <a:solidFill>
            <a:srgbClr val="1A2E45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0" y="420624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DSP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E4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C2C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Punto Fijo?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868680"/>
          </a:xfrm>
          <a:prstGeom prst="rect">
            <a:avLst/>
          </a:prstGeom>
          <a:solidFill>
            <a:srgbClr val="1A2E4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14400"/>
            <a:ext cx="91440" cy="86868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914400"/>
            <a:ext cx="8138160" cy="868680"/>
          </a:xfrm>
          <a:prstGeom prst="rect">
            <a:avLst/>
          </a:prstGeom>
          <a:noFill/>
          <a:ln/>
        </p:spPr>
        <p:txBody>
          <a:bodyPr wrap="square" lIns="0" tIns="1905" rIns="1905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imposible representar infinitos números reales con un número finito de bits.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programador debe elegir la representación más adecuada para cada aplicación.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1965960"/>
            <a:ext cx="2651760" cy="2926080"/>
          </a:xfrm>
          <a:prstGeom prst="rect">
            <a:avLst/>
          </a:prstGeom>
          <a:solidFill>
            <a:srgbClr val="1A2E4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965960"/>
            <a:ext cx="2651760" cy="411480"/>
          </a:xfrm>
          <a:prstGeom prst="rect">
            <a:avLst/>
          </a:prstGeom>
          <a:solidFill>
            <a:srgbClr val="6B8FA8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96596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Flotante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245059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Ventajas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75488" y="2697480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Alto rango dinámico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75488" y="2953512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Precisión uniforme relativa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75488" y="3209544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Manejo automático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353872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Desventajas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5488" y="3794760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FPU costosa en HW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5488" y="4050792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Lento en MCU/DSP sin FPU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5488" y="4306824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Alto consumo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0" y="1965960"/>
            <a:ext cx="2651760" cy="2926080"/>
          </a:xfrm>
          <a:prstGeom prst="rect">
            <a:avLst/>
          </a:prstGeom>
          <a:solidFill>
            <a:srgbClr val="1A2E4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0" y="1965960"/>
            <a:ext cx="2651760" cy="411480"/>
          </a:xfrm>
          <a:prstGeom prst="rect">
            <a:avLst/>
          </a:prstGeom>
          <a:solidFill>
            <a:srgbClr val="00C2CB"/>
          </a:solidFill>
          <a:ln/>
        </p:spPr>
      </p:sp>
      <p:sp>
        <p:nvSpPr>
          <p:cNvPr id="21" name="Text 19"/>
          <p:cNvSpPr/>
          <p:nvPr/>
        </p:nvSpPr>
        <p:spPr>
          <a:xfrm>
            <a:off x="3200400" y="196596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Fijo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291840" y="245059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Ventajas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310128" y="2697480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Sin FPU necesario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310128" y="2953512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Rápido en DSP/MCU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310128" y="3209544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Bajo consumo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310128" y="3465576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Determinístico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291840" y="37947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Desventajas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310128" y="4050792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El programador gestiona escala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310128" y="4306824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Riesgo de overflow/underflow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310128" y="4562856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Diseño cuidadoso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035040" y="1965960"/>
            <a:ext cx="2651760" cy="2926080"/>
          </a:xfrm>
          <a:prstGeom prst="rect">
            <a:avLst/>
          </a:prstGeom>
          <a:solidFill>
            <a:srgbClr val="1A2E4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035040" y="1965960"/>
            <a:ext cx="2651760" cy="411480"/>
          </a:xfrm>
          <a:prstGeom prst="rect">
            <a:avLst/>
          </a:prstGeom>
          <a:solidFill>
            <a:srgbClr val="B8D4E8"/>
          </a:solidFill>
          <a:ln/>
        </p:spPr>
      </p:sp>
      <p:sp>
        <p:nvSpPr>
          <p:cNvPr id="33" name="Text 31"/>
          <p:cNvSpPr/>
          <p:nvPr/>
        </p:nvSpPr>
        <p:spPr>
          <a:xfrm>
            <a:off x="6035040" y="196596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Enteros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126480" y="245059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Ventajas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144768" y="2697480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Muy simple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144768" y="2953512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Nativo en CPU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144768" y="3209544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Sin overhead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126480" y="353872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Desventajas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144768" y="3794760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Solo valores enteros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144768" y="4050792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Sin fracciones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144768" y="4306824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Limitado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E4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C2C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Notación Qm.n — Estructura del Número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005840"/>
            <a:ext cx="502920" cy="594360"/>
          </a:xfrm>
          <a:prstGeom prst="rect">
            <a:avLst/>
          </a:prstGeom>
          <a:solidFill>
            <a:srgbClr val="E74C3C"/>
          </a:solidFill>
          <a:ln w="12700">
            <a:solidFill>
              <a:srgbClr val="00C2C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005840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bₘ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042416" y="1005840"/>
            <a:ext cx="502920" cy="594360"/>
          </a:xfrm>
          <a:prstGeom prst="rect">
            <a:avLst/>
          </a:prstGeom>
          <a:solidFill>
            <a:srgbClr val="1A5276"/>
          </a:solidFill>
          <a:ln w="12700">
            <a:solidFill>
              <a:srgbClr val="00C2C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42416" y="1005840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bₘ₋₁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581912" y="1005840"/>
            <a:ext cx="502920" cy="594360"/>
          </a:xfrm>
          <a:prstGeom prst="rect">
            <a:avLst/>
          </a:prstGeom>
          <a:solidFill>
            <a:srgbClr val="1A5276"/>
          </a:solidFill>
          <a:ln w="12700">
            <a:solidFill>
              <a:srgbClr val="00C2C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581912" y="1005840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121408" y="1005840"/>
            <a:ext cx="502920" cy="594360"/>
          </a:xfrm>
          <a:prstGeom prst="rect">
            <a:avLst/>
          </a:prstGeom>
          <a:solidFill>
            <a:srgbClr val="1A5276"/>
          </a:solidFill>
          <a:ln w="12700">
            <a:solidFill>
              <a:srgbClr val="00C2C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121408" y="1005840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b₁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660904" y="1005840"/>
            <a:ext cx="502920" cy="594360"/>
          </a:xfrm>
          <a:prstGeom prst="rect">
            <a:avLst/>
          </a:prstGeom>
          <a:solidFill>
            <a:srgbClr val="1A5276"/>
          </a:solidFill>
          <a:ln w="12700">
            <a:solidFill>
              <a:srgbClr val="00C2C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660904" y="1005840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b₀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00400" y="1005840"/>
            <a:ext cx="228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3456432" y="1005840"/>
            <a:ext cx="502920" cy="594360"/>
          </a:xfrm>
          <a:prstGeom prst="rect">
            <a:avLst/>
          </a:prstGeom>
          <a:solidFill>
            <a:srgbClr val="1B6B4A"/>
          </a:solidFill>
          <a:ln w="12700">
            <a:solidFill>
              <a:srgbClr val="00C2C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456432" y="1005840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b₋₁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995928" y="1005840"/>
            <a:ext cx="502920" cy="594360"/>
          </a:xfrm>
          <a:prstGeom prst="rect">
            <a:avLst/>
          </a:prstGeom>
          <a:solidFill>
            <a:srgbClr val="1B6B4A"/>
          </a:solidFill>
          <a:ln w="12700">
            <a:solidFill>
              <a:srgbClr val="00C2C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995928" y="1005840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b₋₂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35424" y="1005840"/>
            <a:ext cx="502920" cy="594360"/>
          </a:xfrm>
          <a:prstGeom prst="rect">
            <a:avLst/>
          </a:prstGeom>
          <a:solidFill>
            <a:srgbClr val="1B6B4A"/>
          </a:solidFill>
          <a:ln w="12700">
            <a:solidFill>
              <a:srgbClr val="00C2C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535424" y="1005840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74920" y="1005840"/>
            <a:ext cx="502920" cy="594360"/>
          </a:xfrm>
          <a:prstGeom prst="rect">
            <a:avLst/>
          </a:prstGeom>
          <a:solidFill>
            <a:srgbClr val="1B6B4A"/>
          </a:solidFill>
          <a:ln w="12700">
            <a:solidFill>
              <a:srgbClr val="00C2C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074920" y="1005840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b₋ₙ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" y="164592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bit signo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42416" y="16459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m bits parte entera →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520440" y="16459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n bits parte fraccionaria →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65760" y="2103120"/>
            <a:ext cx="8412480" cy="731520"/>
          </a:xfrm>
          <a:prstGeom prst="rect">
            <a:avLst/>
          </a:prstGeom>
          <a:solidFill>
            <a:srgbClr val="1E3A5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57200" y="21031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Valor = −bₘ·2ᵐ  +  Σᵢ₌₀ᵐ⁻¹ bᵢ·2ⁱ  +  Σᵢ₌₁ⁿ bᵢ·2⁻ⁱ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365760" y="29718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Propiedades clave: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65760" y="3291840"/>
            <a:ext cx="8412480" cy="347472"/>
          </a:xfrm>
          <a:prstGeom prst="rect">
            <a:avLst/>
          </a:prstGeom>
          <a:solidFill>
            <a:srgbClr val="1A2E45"/>
          </a:solidFill>
          <a:ln/>
        </p:spPr>
      </p:sp>
      <p:sp>
        <p:nvSpPr>
          <p:cNvPr id="31" name="Text 29"/>
          <p:cNvSpPr/>
          <p:nvPr/>
        </p:nvSpPr>
        <p:spPr>
          <a:xfrm>
            <a:off x="502920" y="329184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de bits (N)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206240" y="329184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 + n + 1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65760" y="3675888"/>
            <a:ext cx="8412480" cy="347472"/>
          </a:xfrm>
          <a:prstGeom prst="rect">
            <a:avLst/>
          </a:prstGeom>
          <a:solidFill>
            <a:srgbClr val="1E3A52"/>
          </a:solidFill>
          <a:ln/>
        </p:spPr>
      </p:sp>
      <p:sp>
        <p:nvSpPr>
          <p:cNvPr id="34" name="Text 32"/>
          <p:cNvSpPr/>
          <p:nvPr/>
        </p:nvSpPr>
        <p:spPr>
          <a:xfrm>
            <a:off x="502920" y="367588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Rango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206240" y="3675888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−2ᵐ  hasta  2ᵐ − 2⁻ⁿ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65760" y="4059936"/>
            <a:ext cx="8412480" cy="347472"/>
          </a:xfrm>
          <a:prstGeom prst="rect">
            <a:avLst/>
          </a:prstGeom>
          <a:solidFill>
            <a:srgbClr val="1A2E45"/>
          </a:solidFill>
          <a:ln/>
        </p:spPr>
      </p:sp>
      <p:sp>
        <p:nvSpPr>
          <p:cNvPr id="37" name="Text 35"/>
          <p:cNvSpPr/>
          <p:nvPr/>
        </p:nvSpPr>
        <p:spPr>
          <a:xfrm>
            <a:off x="502920" y="4059936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Precisión (LSB)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206240" y="4059936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2⁻ⁿ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365760" y="4443984"/>
            <a:ext cx="8412480" cy="347472"/>
          </a:xfrm>
          <a:prstGeom prst="rect">
            <a:avLst/>
          </a:prstGeom>
          <a:solidFill>
            <a:srgbClr val="1E3A52"/>
          </a:solidFill>
          <a:ln/>
        </p:spPr>
      </p:sp>
      <p:sp>
        <p:nvSpPr>
          <p:cNvPr id="40" name="Text 38"/>
          <p:cNvSpPr/>
          <p:nvPr/>
        </p:nvSpPr>
        <p:spPr>
          <a:xfrm>
            <a:off x="502920" y="4443984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Rango dinámico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206240" y="4443984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≈ 6.02·(N−1) dB  →  ~6 dB por bit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E4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C2C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 de Formatos Qm.n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Q1.1 (3 bits, signo + 1 entero + 1 fracción)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1097280" cy="338328"/>
          </a:xfrm>
          <a:prstGeom prst="rect">
            <a:avLst/>
          </a:prstGeom>
          <a:solidFill>
            <a:srgbClr val="00C2CB"/>
          </a:solidFill>
          <a:ln/>
        </p:spPr>
      </p:sp>
      <p:sp>
        <p:nvSpPr>
          <p:cNvPr id="7" name="Shape 5"/>
          <p:cNvSpPr/>
          <p:nvPr/>
        </p:nvSpPr>
        <p:spPr>
          <a:xfrm>
            <a:off x="1481328" y="1097280"/>
            <a:ext cx="914400" cy="338328"/>
          </a:xfrm>
          <a:prstGeom prst="rect">
            <a:avLst/>
          </a:prstGeom>
          <a:solidFill>
            <a:srgbClr val="00C2CB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097280"/>
            <a:ext cx="10972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Binario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481328" y="1097280"/>
            <a:ext cx="914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Decimal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1435608"/>
            <a:ext cx="1097280" cy="338328"/>
          </a:xfrm>
          <a:prstGeom prst="rect">
            <a:avLst/>
          </a:prstGeom>
          <a:solidFill>
            <a:srgbClr val="1A2E45"/>
          </a:solidFill>
          <a:ln/>
        </p:spPr>
      </p:sp>
      <p:sp>
        <p:nvSpPr>
          <p:cNvPr id="11" name="Shape 9"/>
          <p:cNvSpPr/>
          <p:nvPr/>
        </p:nvSpPr>
        <p:spPr>
          <a:xfrm>
            <a:off x="1481328" y="1435608"/>
            <a:ext cx="914400" cy="338328"/>
          </a:xfrm>
          <a:prstGeom prst="rect">
            <a:avLst/>
          </a:prstGeom>
          <a:solidFill>
            <a:srgbClr val="1A2E45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1435608"/>
            <a:ext cx="10972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00.0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481328" y="1435608"/>
            <a:ext cx="914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1773936"/>
            <a:ext cx="1097280" cy="338328"/>
          </a:xfrm>
          <a:prstGeom prst="rect">
            <a:avLst/>
          </a:prstGeom>
          <a:solidFill>
            <a:srgbClr val="1E3A52"/>
          </a:solidFill>
          <a:ln/>
        </p:spPr>
      </p:sp>
      <p:sp>
        <p:nvSpPr>
          <p:cNvPr id="15" name="Shape 13"/>
          <p:cNvSpPr/>
          <p:nvPr/>
        </p:nvSpPr>
        <p:spPr>
          <a:xfrm>
            <a:off x="1481328" y="1773936"/>
            <a:ext cx="914400" cy="338328"/>
          </a:xfrm>
          <a:prstGeom prst="rect">
            <a:avLst/>
          </a:prstGeom>
          <a:solidFill>
            <a:srgbClr val="1E3A52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1773936"/>
            <a:ext cx="10972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00.1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481328" y="1773936"/>
            <a:ext cx="914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+0.5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2112264"/>
            <a:ext cx="1097280" cy="338328"/>
          </a:xfrm>
          <a:prstGeom prst="rect">
            <a:avLst/>
          </a:prstGeom>
          <a:solidFill>
            <a:srgbClr val="1A2E45"/>
          </a:solidFill>
          <a:ln/>
        </p:spPr>
      </p:sp>
      <p:sp>
        <p:nvSpPr>
          <p:cNvPr id="19" name="Shape 17"/>
          <p:cNvSpPr/>
          <p:nvPr/>
        </p:nvSpPr>
        <p:spPr>
          <a:xfrm>
            <a:off x="1481328" y="2112264"/>
            <a:ext cx="914400" cy="338328"/>
          </a:xfrm>
          <a:prstGeom prst="rect">
            <a:avLst/>
          </a:prstGeom>
          <a:solidFill>
            <a:srgbClr val="1A2E45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2112264"/>
            <a:ext cx="10972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01.0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481328" y="2112264"/>
            <a:ext cx="914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+1.0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2450592"/>
            <a:ext cx="1097280" cy="338328"/>
          </a:xfrm>
          <a:prstGeom prst="rect">
            <a:avLst/>
          </a:prstGeom>
          <a:solidFill>
            <a:srgbClr val="1E3A52"/>
          </a:solidFill>
          <a:ln/>
        </p:spPr>
      </p:sp>
      <p:sp>
        <p:nvSpPr>
          <p:cNvPr id="23" name="Shape 21"/>
          <p:cNvSpPr/>
          <p:nvPr/>
        </p:nvSpPr>
        <p:spPr>
          <a:xfrm>
            <a:off x="1481328" y="2450592"/>
            <a:ext cx="914400" cy="338328"/>
          </a:xfrm>
          <a:prstGeom prst="rect">
            <a:avLst/>
          </a:prstGeom>
          <a:solidFill>
            <a:srgbClr val="1E3A52"/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" y="2450592"/>
            <a:ext cx="10972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01.1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481328" y="2450592"/>
            <a:ext cx="914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+1.5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65760" y="2788920"/>
            <a:ext cx="1097280" cy="338328"/>
          </a:xfrm>
          <a:prstGeom prst="rect">
            <a:avLst/>
          </a:prstGeom>
          <a:solidFill>
            <a:srgbClr val="1A2E45"/>
          </a:solidFill>
          <a:ln/>
        </p:spPr>
      </p:sp>
      <p:sp>
        <p:nvSpPr>
          <p:cNvPr id="27" name="Shape 25"/>
          <p:cNvSpPr/>
          <p:nvPr/>
        </p:nvSpPr>
        <p:spPr>
          <a:xfrm>
            <a:off x="1481328" y="2788920"/>
            <a:ext cx="914400" cy="338328"/>
          </a:xfrm>
          <a:prstGeom prst="rect">
            <a:avLst/>
          </a:prstGeom>
          <a:solidFill>
            <a:srgbClr val="1A2E45"/>
          </a:solidFill>
          <a:ln/>
        </p:spPr>
      </p:sp>
      <p:sp>
        <p:nvSpPr>
          <p:cNvPr id="28" name="Text 26"/>
          <p:cNvSpPr/>
          <p:nvPr/>
        </p:nvSpPr>
        <p:spPr>
          <a:xfrm>
            <a:off x="365760" y="2788920"/>
            <a:ext cx="10972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10.0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481328" y="2788920"/>
            <a:ext cx="914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−2.0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65760" y="3127248"/>
            <a:ext cx="1097280" cy="338328"/>
          </a:xfrm>
          <a:prstGeom prst="rect">
            <a:avLst/>
          </a:prstGeom>
          <a:solidFill>
            <a:srgbClr val="1E3A52"/>
          </a:solidFill>
          <a:ln/>
        </p:spPr>
      </p:sp>
      <p:sp>
        <p:nvSpPr>
          <p:cNvPr id="31" name="Shape 29"/>
          <p:cNvSpPr/>
          <p:nvPr/>
        </p:nvSpPr>
        <p:spPr>
          <a:xfrm>
            <a:off x="1481328" y="3127248"/>
            <a:ext cx="914400" cy="338328"/>
          </a:xfrm>
          <a:prstGeom prst="rect">
            <a:avLst/>
          </a:prstGeom>
          <a:solidFill>
            <a:srgbClr val="1E3A52"/>
          </a:solidFill>
          <a:ln/>
        </p:spPr>
      </p:sp>
      <p:sp>
        <p:nvSpPr>
          <p:cNvPr id="32" name="Text 30"/>
          <p:cNvSpPr/>
          <p:nvPr/>
        </p:nvSpPr>
        <p:spPr>
          <a:xfrm>
            <a:off x="365760" y="3127248"/>
            <a:ext cx="10972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10.1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481328" y="3127248"/>
            <a:ext cx="914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−1.5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3465576"/>
            <a:ext cx="1097280" cy="338328"/>
          </a:xfrm>
          <a:prstGeom prst="rect">
            <a:avLst/>
          </a:prstGeom>
          <a:solidFill>
            <a:srgbClr val="1A2E45"/>
          </a:solidFill>
          <a:ln/>
        </p:spPr>
      </p:sp>
      <p:sp>
        <p:nvSpPr>
          <p:cNvPr id="35" name="Shape 33"/>
          <p:cNvSpPr/>
          <p:nvPr/>
        </p:nvSpPr>
        <p:spPr>
          <a:xfrm>
            <a:off x="1481328" y="3465576"/>
            <a:ext cx="914400" cy="338328"/>
          </a:xfrm>
          <a:prstGeom prst="rect">
            <a:avLst/>
          </a:prstGeom>
          <a:solidFill>
            <a:srgbClr val="1A2E45"/>
          </a:solidFill>
          <a:ln/>
        </p:spPr>
      </p:sp>
      <p:sp>
        <p:nvSpPr>
          <p:cNvPr id="36" name="Text 34"/>
          <p:cNvSpPr/>
          <p:nvPr/>
        </p:nvSpPr>
        <p:spPr>
          <a:xfrm>
            <a:off x="365760" y="3465576"/>
            <a:ext cx="10972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11.0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481328" y="3465576"/>
            <a:ext cx="914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−1.0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365760" y="3803904"/>
            <a:ext cx="1097280" cy="338328"/>
          </a:xfrm>
          <a:prstGeom prst="rect">
            <a:avLst/>
          </a:prstGeom>
          <a:solidFill>
            <a:srgbClr val="1E3A52"/>
          </a:solidFill>
          <a:ln/>
        </p:spPr>
      </p:sp>
      <p:sp>
        <p:nvSpPr>
          <p:cNvPr id="39" name="Shape 37"/>
          <p:cNvSpPr/>
          <p:nvPr/>
        </p:nvSpPr>
        <p:spPr>
          <a:xfrm>
            <a:off x="1481328" y="3803904"/>
            <a:ext cx="914400" cy="338328"/>
          </a:xfrm>
          <a:prstGeom prst="rect">
            <a:avLst/>
          </a:prstGeom>
          <a:solidFill>
            <a:srgbClr val="1E3A52"/>
          </a:solidFill>
          <a:ln/>
        </p:spPr>
      </p:sp>
      <p:sp>
        <p:nvSpPr>
          <p:cNvPr id="40" name="Text 38"/>
          <p:cNvSpPr/>
          <p:nvPr/>
        </p:nvSpPr>
        <p:spPr>
          <a:xfrm>
            <a:off x="365760" y="3803904"/>
            <a:ext cx="10972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11.1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1481328" y="3803904"/>
            <a:ext cx="914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−0.5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2743200" y="77724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Formatos comunes en DSP: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2743200" y="1097280"/>
            <a:ext cx="6035040" cy="822960"/>
          </a:xfrm>
          <a:prstGeom prst="rect">
            <a:avLst/>
          </a:prstGeom>
          <a:solidFill>
            <a:srgbClr val="1A2E4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2743200" y="1097280"/>
            <a:ext cx="73152" cy="822960"/>
          </a:xfrm>
          <a:prstGeom prst="rect">
            <a:avLst/>
          </a:prstGeom>
          <a:solidFill>
            <a:srgbClr val="00C2CB"/>
          </a:solidFill>
          <a:ln/>
        </p:spPr>
      </p:sp>
      <p:sp>
        <p:nvSpPr>
          <p:cNvPr id="45" name="Text 43"/>
          <p:cNvSpPr/>
          <p:nvPr/>
        </p:nvSpPr>
        <p:spPr>
          <a:xfrm>
            <a:off x="2880360" y="1133856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Q0.15 (Q15)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2880360" y="144475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bits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480560" y="1133856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Rango: −1  a  +0.99997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480560" y="1389888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CC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Precisión: 2⁻¹⁵ ≈ 3×10⁻⁵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2880360" y="1664208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Uso: Coeficientes de filtros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2743200" y="1993392"/>
            <a:ext cx="6035040" cy="822960"/>
          </a:xfrm>
          <a:prstGeom prst="rect">
            <a:avLst/>
          </a:prstGeom>
          <a:solidFill>
            <a:srgbClr val="1A2E4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2743200" y="1993392"/>
            <a:ext cx="73152" cy="822960"/>
          </a:xfrm>
          <a:prstGeom prst="rect">
            <a:avLst/>
          </a:prstGeom>
          <a:solidFill>
            <a:srgbClr val="00C2CB"/>
          </a:solidFill>
          <a:ln/>
        </p:spPr>
      </p:sp>
      <p:sp>
        <p:nvSpPr>
          <p:cNvPr id="52" name="Text 50"/>
          <p:cNvSpPr/>
          <p:nvPr/>
        </p:nvSpPr>
        <p:spPr>
          <a:xfrm>
            <a:off x="2880360" y="202996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Q3.12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2880360" y="2340864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bits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4480560" y="2029968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Rango: −8  a  +7.9998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4480560" y="228600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CC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Precisión: 2⁻¹² ≈ 2.4×10⁻⁴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2880360" y="2560320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Uso: Señales moderadas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2743200" y="2889504"/>
            <a:ext cx="6035040" cy="822960"/>
          </a:xfrm>
          <a:prstGeom prst="rect">
            <a:avLst/>
          </a:prstGeom>
          <a:solidFill>
            <a:srgbClr val="1A2E4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2743200" y="2889504"/>
            <a:ext cx="73152" cy="822960"/>
          </a:xfrm>
          <a:prstGeom prst="rect">
            <a:avLst/>
          </a:prstGeom>
          <a:solidFill>
            <a:srgbClr val="00C2CB"/>
          </a:solidFill>
          <a:ln/>
        </p:spPr>
      </p:sp>
      <p:sp>
        <p:nvSpPr>
          <p:cNvPr id="59" name="Text 57"/>
          <p:cNvSpPr/>
          <p:nvPr/>
        </p:nvSpPr>
        <p:spPr>
          <a:xfrm>
            <a:off x="2880360" y="29260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Q0.31 (Q31)</a:t>
            </a:r>
            <a:endParaRPr lang="en-US" sz="1400" dirty="0"/>
          </a:p>
        </p:txBody>
      </p:sp>
      <p:sp>
        <p:nvSpPr>
          <p:cNvPr id="60" name="Text 58"/>
          <p:cNvSpPr/>
          <p:nvPr/>
        </p:nvSpPr>
        <p:spPr>
          <a:xfrm>
            <a:off x="2880360" y="323697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bits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4480560" y="292608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Rango: −1  a  +0.99999…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4480560" y="318211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CC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Precisión: 2⁻³¹ ≈ 4.7×10⁻¹⁰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2880360" y="3456432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Uso: Alta precisión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2743200" y="3785616"/>
            <a:ext cx="6035040" cy="822960"/>
          </a:xfrm>
          <a:prstGeom prst="rect">
            <a:avLst/>
          </a:prstGeom>
          <a:solidFill>
            <a:srgbClr val="1A2E4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2743200" y="3785616"/>
            <a:ext cx="73152" cy="822960"/>
          </a:xfrm>
          <a:prstGeom prst="rect">
            <a:avLst/>
          </a:prstGeom>
          <a:solidFill>
            <a:srgbClr val="00C2CB"/>
          </a:solidFill>
          <a:ln/>
        </p:spPr>
      </p:sp>
      <p:sp>
        <p:nvSpPr>
          <p:cNvPr id="66" name="Text 64"/>
          <p:cNvSpPr/>
          <p:nvPr/>
        </p:nvSpPr>
        <p:spPr>
          <a:xfrm>
            <a:off x="2880360" y="382219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Q15.0</a:t>
            </a:r>
            <a:endParaRPr lang="en-US" sz="1400" dirty="0"/>
          </a:p>
        </p:txBody>
      </p:sp>
      <p:sp>
        <p:nvSpPr>
          <p:cNvPr id="67" name="Text 65"/>
          <p:cNvSpPr/>
          <p:nvPr/>
        </p:nvSpPr>
        <p:spPr>
          <a:xfrm>
            <a:off x="2880360" y="413308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bits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4480560" y="382219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Rango: −32768  a  +32767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4480560" y="4078224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CC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Precisión: 1 (entero puro)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2880360" y="4352544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Uso: Índices, contadores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365760" y="4663440"/>
            <a:ext cx="2194560" cy="347472"/>
          </a:xfrm>
          <a:prstGeom prst="rect">
            <a:avLst/>
          </a:prstGeom>
          <a:solidFill>
            <a:srgbClr val="1A2E45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65760" y="466344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tienen 90.3 dB de rango dinámico (16 bits)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E4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C2C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Conversión: Float ↔ Fixed Point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8412480" cy="502920"/>
          </a:xfrm>
          <a:prstGeom prst="rect">
            <a:avLst/>
          </a:prstGeom>
          <a:solidFill>
            <a:srgbClr val="1A2E45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Clave: un número en Qm.n es un entero con signo multiplicado por 2⁻ⁿ (el factor de escala)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46304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  →  Fixed (cuantización)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810512"/>
            <a:ext cx="4114800" cy="1234440"/>
          </a:xfrm>
          <a:prstGeom prst="rect">
            <a:avLst/>
          </a:prstGeom>
          <a:solidFill>
            <a:srgbClr val="1E3A5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1810512"/>
            <a:ext cx="38404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8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x real → X entero Q
</a:t>
            </a:r>
            <a:pPr indent="0" marL="0">
              <a:buNone/>
            </a:pPr>
            <a:r>
              <a:rPr lang="en-US" sz="120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(int)(x * (1 &lt;&lt; n));
</a:t>
            </a:r>
            <a:pPr indent="0" marL="0">
              <a:buNone/>
            </a:pPr>
            <a:r>
              <a:rPr lang="en-US" sz="1200" i="1" dirty="0">
                <a:solidFill>
                  <a:srgbClr val="6B8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// Equivalente pero ineficiente:
</a:t>
            </a:r>
            <a:pPr indent="0" marL="0">
              <a:buNone/>
            </a:pPr>
            <a:r>
              <a:rPr lang="en-US" sz="1200" dirty="0">
                <a:solidFill>
                  <a:srgbClr val="6B8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(int)(x * pow(2, n));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663440" y="146304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 →  Float (interpretación)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63440" y="1810512"/>
            <a:ext cx="4114800" cy="1234440"/>
          </a:xfrm>
          <a:prstGeom prst="rect">
            <a:avLst/>
          </a:prstGeom>
          <a:solidFill>
            <a:srgbClr val="1E3A5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00600" y="1810512"/>
            <a:ext cx="38404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8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X entero Q → x real
</a:t>
            </a:r>
            <a:pPr indent="0" marL="0">
              <a:buNone/>
            </a:pPr>
            <a:r>
              <a:rPr lang="en-US" sz="120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(float)X / (1 &lt;&lt; n);
</a:t>
            </a:r>
            <a:pPr indent="0" marL="0">
              <a:buNone/>
            </a:pPr>
            <a:r>
              <a:rPr lang="en-US" sz="1200" i="1" dirty="0">
                <a:solidFill>
                  <a:srgbClr val="6B8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// Equivalente pero ineficiente:
</a:t>
            </a:r>
            <a:pPr indent="0" marL="0">
              <a:buNone/>
            </a:pPr>
            <a:r>
              <a:rPr lang="en-US" sz="1200" dirty="0">
                <a:solidFill>
                  <a:srgbClr val="6B8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(float)X * pow(2, -n);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5760" y="320040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convertir x = 0.75 a Q1.14 (16 bits, n=14)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566160"/>
            <a:ext cx="1005840" cy="320040"/>
          </a:xfrm>
          <a:prstGeom prst="rect">
            <a:avLst/>
          </a:prstGeom>
          <a:solidFill>
            <a:srgbClr val="00C2CB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356616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1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389888" y="3566160"/>
            <a:ext cx="7406640" cy="320040"/>
          </a:xfrm>
          <a:prstGeom prst="rect">
            <a:avLst/>
          </a:prstGeom>
          <a:solidFill>
            <a:srgbClr val="1E3A52"/>
          </a:solidFill>
          <a:ln/>
        </p:spPr>
      </p:sp>
      <p:sp>
        <p:nvSpPr>
          <p:cNvPr id="17" name="Text 15"/>
          <p:cNvSpPr/>
          <p:nvPr/>
        </p:nvSpPr>
        <p:spPr>
          <a:xfrm>
            <a:off x="1481328" y="35661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Calcular factor de escala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669280" y="35661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2¹⁴ = 16384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913632"/>
            <a:ext cx="1005840" cy="320040"/>
          </a:xfrm>
          <a:prstGeom prst="rect">
            <a:avLst/>
          </a:prstGeom>
          <a:solidFill>
            <a:srgbClr val="00C2CB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3913632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2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389888" y="3913632"/>
            <a:ext cx="7406640" cy="320040"/>
          </a:xfrm>
          <a:prstGeom prst="rect">
            <a:avLst/>
          </a:prstGeom>
          <a:solidFill>
            <a:srgbClr val="1A2E45"/>
          </a:solidFill>
          <a:ln/>
        </p:spPr>
      </p:sp>
      <p:sp>
        <p:nvSpPr>
          <p:cNvPr id="22" name="Text 20"/>
          <p:cNvSpPr/>
          <p:nvPr/>
        </p:nvSpPr>
        <p:spPr>
          <a:xfrm>
            <a:off x="1481328" y="391363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Multiplicar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669280" y="391363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0.75 × 16384 = 12288.0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4261104"/>
            <a:ext cx="1005840" cy="320040"/>
          </a:xfrm>
          <a:prstGeom prst="rect">
            <a:avLst/>
          </a:prstGeom>
          <a:solidFill>
            <a:srgbClr val="00C2CB"/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" y="4261104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3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389888" y="4261104"/>
            <a:ext cx="7406640" cy="320040"/>
          </a:xfrm>
          <a:prstGeom prst="rect">
            <a:avLst/>
          </a:prstGeom>
          <a:solidFill>
            <a:srgbClr val="1E3A52"/>
          </a:solidFill>
          <a:ln/>
        </p:spPr>
      </p:sp>
      <p:sp>
        <p:nvSpPr>
          <p:cNvPr id="27" name="Text 25"/>
          <p:cNvSpPr/>
          <p:nvPr/>
        </p:nvSpPr>
        <p:spPr>
          <a:xfrm>
            <a:off x="1481328" y="426110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Truncar/redondear a entero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669280" y="4261104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12288  (0x3000)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608576"/>
            <a:ext cx="1005840" cy="320040"/>
          </a:xfrm>
          <a:prstGeom prst="rect">
            <a:avLst/>
          </a:prstGeom>
          <a:solidFill>
            <a:srgbClr val="00C2CB"/>
          </a:solidFill>
          <a:ln/>
        </p:spPr>
      </p:sp>
      <p:sp>
        <p:nvSpPr>
          <p:cNvPr id="30" name="Text 28"/>
          <p:cNvSpPr/>
          <p:nvPr/>
        </p:nvSpPr>
        <p:spPr>
          <a:xfrm>
            <a:off x="365760" y="4608576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4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389888" y="4608576"/>
            <a:ext cx="7406640" cy="320040"/>
          </a:xfrm>
          <a:prstGeom prst="rect">
            <a:avLst/>
          </a:prstGeom>
          <a:solidFill>
            <a:srgbClr val="1A2E45"/>
          </a:solidFill>
          <a:ln/>
        </p:spPr>
      </p:sp>
      <p:sp>
        <p:nvSpPr>
          <p:cNvPr id="32" name="Text 30"/>
          <p:cNvSpPr/>
          <p:nvPr/>
        </p:nvSpPr>
        <p:spPr>
          <a:xfrm>
            <a:off x="1481328" y="4608576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Verificar: 12288 / 16384 =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669280" y="4608576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0.75  ✓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E4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C2C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Suma en Complemento a 2 — Overflow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8412480" cy="475488"/>
          </a:xfrm>
          <a:prstGeom prst="rect">
            <a:avLst/>
          </a:prstGeom>
          <a:solidFill>
            <a:srgbClr val="1E3A52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822960"/>
            <a:ext cx="502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📐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822960"/>
            <a:ext cx="7680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Sumar dos números de N bits puede producir hasta N+1 bits de resultado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371600"/>
            <a:ext cx="8412480" cy="475488"/>
          </a:xfrm>
          <a:prstGeom prst="rect">
            <a:avLst/>
          </a:prstGeom>
          <a:solidFill>
            <a:srgbClr val="1A2E45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1371600"/>
            <a:ext cx="502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60120" y="1371600"/>
            <a:ext cx="7680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parte fraccionaria NO crece — solo puede crecer la parte entera en 1 bit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1920240"/>
            <a:ext cx="8412480" cy="475488"/>
          </a:xfrm>
          <a:prstGeom prst="rect">
            <a:avLst/>
          </a:prstGeom>
          <a:solidFill>
            <a:srgbClr val="1E3A52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" y="1920240"/>
            <a:ext cx="502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⚠️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60120" y="1920240"/>
            <a:ext cx="7680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los dos bits más significativos del carry son DISTINTOS → OVERFLOW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2468880"/>
            <a:ext cx="8412480" cy="475488"/>
          </a:xfrm>
          <a:prstGeom prst="rect">
            <a:avLst/>
          </a:prstGeom>
          <a:solidFill>
            <a:srgbClr val="1A2E45"/>
          </a:solidFill>
          <a:ln/>
        </p:spPr>
      </p:sp>
      <p:sp>
        <p:nvSpPr>
          <p:cNvPr id="15" name="Text 13"/>
          <p:cNvSpPr/>
          <p:nvPr/>
        </p:nvSpPr>
        <p:spPr>
          <a:xfrm>
            <a:off x="411480" y="2468880"/>
            <a:ext cx="502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💥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60120" y="2468880"/>
            <a:ext cx="7680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overflow produce una caída en escalera (rollover): resultado completamente erróneo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5760" y="31546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sin overflow: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3474720"/>
            <a:ext cx="3840480" cy="1005840"/>
          </a:xfrm>
          <a:prstGeom prst="rect">
            <a:avLst/>
          </a:prstGeom>
          <a:solidFill>
            <a:srgbClr val="1E3A5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57200" y="347472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carry:  [1 1] 1 1 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+15 =    0000 1111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-5 =  + 1111 1011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─────────────────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+10 =    0000 1010  ✓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5760" y="4498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carries iguales = OK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572000" y="315468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CON overflow: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0" y="3474720"/>
            <a:ext cx="4206240" cy="1005840"/>
          </a:xfrm>
          <a:prstGeom prst="rect">
            <a:avLst/>
          </a:prstGeom>
          <a:solidFill>
            <a:srgbClr val="1E3A5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663440" y="3474720"/>
            <a:ext cx="4023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carry:  [0 1] 1 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+7  =    0111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+3  =  + 0011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──────────────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-6  =    1010  ✗ INVÁLIDO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0" y="449884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carries distintos = OVERFLOW!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E4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C2C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Soluciones al Overflow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4023360" cy="4114800"/>
          </a:xfrm>
          <a:prstGeom prst="rect">
            <a:avLst/>
          </a:prstGeom>
          <a:solidFill>
            <a:srgbClr val="1A2E4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822960"/>
            <a:ext cx="4023360" cy="41148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82296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Acumulador Largo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280160"/>
            <a:ext cx="37490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un acumulador más ancho que los sumandos: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2 sumandos de N bits → N+1 bits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 sumandos de N bits → N + log₂(s) bits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sumar 256 números de 8 bits: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+ log₂(256) = 8 + 8 = 16 bits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880360"/>
            <a:ext cx="3749040" cy="1005840"/>
          </a:xfrm>
          <a:prstGeom prst="rect">
            <a:avLst/>
          </a:prstGeom>
          <a:solidFill>
            <a:srgbClr val="1E3A52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880360"/>
            <a:ext cx="3611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int32_t a[K];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int64_t c = 0;  // acumulador 64 bits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(i=0; i&lt;K; i++)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 = c + (int64_t) a[i];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39319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Evita completamente el overflow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822960"/>
            <a:ext cx="4114800" cy="4114800"/>
          </a:xfrm>
          <a:prstGeom prst="rect">
            <a:avLst/>
          </a:prstGeom>
          <a:solidFill>
            <a:srgbClr val="1A2E4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822960"/>
            <a:ext cx="4114800" cy="411480"/>
          </a:xfrm>
          <a:prstGeom prst="rect">
            <a:avLst/>
          </a:prstGeom>
          <a:solidFill>
            <a:srgbClr val="4A235A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0" y="82296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Saturación (Clipping)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00600" y="1280160"/>
            <a:ext cx="3840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evita el overflow, pero sí el rollover catastrófico.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Limita el resultado al máximo/mínimo representable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Introduce no-linealidad pero evita discontinuidades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Requiere igualmente acumulador más largo internamente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2606040"/>
            <a:ext cx="3840480" cy="1280160"/>
          </a:xfrm>
          <a:prstGeom prst="rect">
            <a:avLst/>
          </a:prstGeom>
          <a:solidFill>
            <a:srgbClr val="1E3A52"/>
          </a:solidFill>
          <a:ln/>
        </p:spPr>
      </p:sp>
      <p:sp>
        <p:nvSpPr>
          <p:cNvPr id="17" name="Text 15"/>
          <p:cNvSpPr/>
          <p:nvPr/>
        </p:nvSpPr>
        <p:spPr>
          <a:xfrm>
            <a:off x="4846320" y="260604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int32_t saturate(int64_t x)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(x &gt; INT32_MAX)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INT32_MAX;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(x &lt; INT32_MIN)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INT32_MIN;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(int32_t)x;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54880" y="39319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Sin saturación: rollover → señal completamente corrupta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54880" y="418795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Con saturación: al límite, pero sin discontinuidad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E4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C2C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Multiplicación, Underflow y Redondeo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777240"/>
            <a:ext cx="8412480" cy="502920"/>
          </a:xfrm>
          <a:prstGeom prst="rect">
            <a:avLst/>
          </a:prstGeom>
          <a:solidFill>
            <a:srgbClr val="1A2E45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7772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Multiplicar dos números de N bits → resultado de hasta 2N bits. En Qm.n: se DUPLICAN los bits de la parte fraccionaria.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41732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el Underflow?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737360"/>
            <a:ext cx="4023360" cy="1463040"/>
          </a:xfrm>
          <a:prstGeom prst="rect">
            <a:avLst/>
          </a:prstGeom>
          <a:solidFill>
            <a:srgbClr val="1E3A5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1737360"/>
            <a:ext cx="3840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 resultado de la multiplicación 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MENOR que la precisión 2⁻ⁿ.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Ejemplo en Q0.3 (precisión = 1/8):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(1/4) × (1/2) = 1/8  ←  límite OK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(1/4) × (1/4) = 1/16 ←  UNDERFLOW!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 truncar los n bits extra → resultado = 0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663440" y="14173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Esquemas de Redondeo (al almacenar N bits):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63440" y="1737360"/>
            <a:ext cx="4114800" cy="1463040"/>
          </a:xfrm>
          <a:prstGeom prst="rect">
            <a:avLst/>
          </a:prstGeom>
          <a:solidFill>
            <a:srgbClr val="1A2E4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737360"/>
            <a:ext cx="73152" cy="146304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3" name="Text 11"/>
          <p:cNvSpPr/>
          <p:nvPr/>
        </p:nvSpPr>
        <p:spPr>
          <a:xfrm>
            <a:off x="4800600" y="17830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TRUNCAMIENTO (floor)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00600" y="20574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Redondeo hacia −∞. Simplemente descarta los n bits inferiores.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00600" y="24688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(int32_t)(X &gt;&gt; n);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00600" y="28346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Error: [−2⁻ⁿ, 0]  →  sesgo negativo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63440" y="3291840"/>
            <a:ext cx="4114800" cy="1554480"/>
          </a:xfrm>
          <a:prstGeom prst="rect">
            <a:avLst/>
          </a:prstGeom>
          <a:solidFill>
            <a:srgbClr val="1A2E4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3291840"/>
            <a:ext cx="73152" cy="1554480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19" name="Text 17"/>
          <p:cNvSpPr/>
          <p:nvPr/>
        </p:nvSpPr>
        <p:spPr>
          <a:xfrm>
            <a:off x="4800600" y="33375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REDONDEO AL MÁS CERCANO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00600" y="3630168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Suma mitad de precisión y luego trunca: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= Q(x + 2⁻⁽ⁿ⁺¹⁾)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00600" y="4059936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X + (1 &lt;&lt; (n-1));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(int32_t)(a &gt;&gt; n);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00600" y="450799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Error: [−2⁻ⁿ/2, +2⁻ⁿ/2]  →  sin sesgo (unbiased)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4023360" cy="1554480"/>
          </a:xfrm>
          <a:prstGeom prst="rect">
            <a:avLst/>
          </a:prstGeom>
          <a:solidFill>
            <a:srgbClr val="1E3A5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57200" y="333756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Ej: Q3 × Q3 → Q6 → Q3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3630168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(1/2) × (−3/8) = −3/16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Binario: 0.100 × 1.101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Resultado 8 bits: 11.110100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Acumulador: 1.1110100 → Qm.6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Memoria (4 bits): 1.110 = −1/4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Error: −3/16 − (−1/4) = +1/16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E4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C2C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Operación MAC y Desplazamientos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80467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MAC: Multiply-Accumulate (el corazón del DSP)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124712"/>
            <a:ext cx="8412480" cy="347472"/>
          </a:xfrm>
          <a:prstGeom prst="rect">
            <a:avLst/>
          </a:prstGeom>
          <a:solidFill>
            <a:srgbClr val="1A2E45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2471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 = Σᵢ aᵢ · bᵢ   →   Convolución, filtros FIR/IIR, correlación, FFT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8412480" cy="1005840"/>
          </a:xfrm>
          <a:prstGeom prst="rect">
            <a:avLst/>
          </a:prstGeom>
          <a:solidFill>
            <a:srgbClr val="1E3A5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1508760"/>
            <a:ext cx="8138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int32_t a[K], b[K];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int64_t c = 0;  // acumulador grande evita overflow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(i=0; i&lt;K; i++)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 = c + ( (int64_t)a[i] * (int64_t)b[i] );  // cast antes de multiplicar!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256032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DSP ejecutan MAC en hardware: 1 ciclo de clock. Los acumuladores tienen bits de guarda adicionales y esquemas de redondeo automáticos.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30632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Desplazamientos: Lógico vs Aritmético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3456432"/>
            <a:ext cx="2788920" cy="1554480"/>
          </a:xfrm>
          <a:prstGeom prst="rect">
            <a:avLst/>
          </a:prstGeom>
          <a:solidFill>
            <a:srgbClr val="1A2E4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3456432"/>
            <a:ext cx="2788920" cy="347472"/>
          </a:xfrm>
          <a:prstGeom prst="rect">
            <a:avLst/>
          </a:prstGeom>
          <a:solidFill>
            <a:srgbClr val="00C2CB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3456432"/>
            <a:ext cx="2194560" cy="347472"/>
          </a:xfrm>
          <a:prstGeom prst="rect">
            <a:avLst/>
          </a:prstGeom>
          <a:noFill/>
          <a:ln/>
        </p:spPr>
        <p:txBody>
          <a:bodyPr wrap="square" lIns="0" tIns="1016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Left (&lt;&lt;n)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560320" y="3456432"/>
            <a:ext cx="594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2ⁿ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38912" y="384048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Antes: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987552" y="384048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0 1 0 1 0 0 1 1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38912" y="411480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Después: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87552" y="411480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1 0 1 0 0 1 1 0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38912" y="43891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pierden bits por la izquierda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291840" y="3456432"/>
            <a:ext cx="2788920" cy="1554480"/>
          </a:xfrm>
          <a:prstGeom prst="rect">
            <a:avLst/>
          </a:prstGeom>
          <a:solidFill>
            <a:srgbClr val="1A2E4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91840" y="3456432"/>
            <a:ext cx="2788920" cy="347472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23" name="Text 21"/>
          <p:cNvSpPr/>
          <p:nvPr/>
        </p:nvSpPr>
        <p:spPr>
          <a:xfrm>
            <a:off x="3291840" y="3456432"/>
            <a:ext cx="2194560" cy="347472"/>
          </a:xfrm>
          <a:prstGeom prst="rect">
            <a:avLst/>
          </a:prstGeom>
          <a:noFill/>
          <a:ln/>
        </p:spPr>
        <p:txBody>
          <a:bodyPr wrap="square" lIns="0" tIns="1016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Right Lógico (&gt;&gt;n)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486400" y="3456432"/>
            <a:ext cx="594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÷ 2ⁿ (sin signo)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364992" y="384048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Antes: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913632" y="384048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1 0 1 0 0 1 1 1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364992" y="411480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Después: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913632" y="411480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0 1 0 1 0 0 1 1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364992" y="43891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Rellena con 0 — INCORRECTO para negativos en C2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217920" y="3456432"/>
            <a:ext cx="2788920" cy="1554480"/>
          </a:xfrm>
          <a:prstGeom prst="rect">
            <a:avLst/>
          </a:prstGeom>
          <a:solidFill>
            <a:srgbClr val="1A2E4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217920" y="3456432"/>
            <a:ext cx="2788920" cy="347472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32" name="Text 30"/>
          <p:cNvSpPr/>
          <p:nvPr/>
        </p:nvSpPr>
        <p:spPr>
          <a:xfrm>
            <a:off x="6217920" y="3456432"/>
            <a:ext cx="2194560" cy="347472"/>
          </a:xfrm>
          <a:prstGeom prst="rect">
            <a:avLst/>
          </a:prstGeom>
          <a:noFill/>
          <a:ln/>
        </p:spPr>
        <p:txBody>
          <a:bodyPr wrap="square" lIns="0" tIns="1016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Right Aritmético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412480" y="3456432"/>
            <a:ext cx="594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÷ 2ⁿ (con signo)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291072" y="384048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Antes: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839712" y="384048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1 0 1 0 0 1 1 1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291072" y="411480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Después: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839712" y="411480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CC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1 1 0 1 0 0 1 1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291072" y="43891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Preserva el bit de signo — CORRECTO para C2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E4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C2C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Resumen: Hoja de Referencia Rápida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2194560" cy="301752"/>
          </a:xfrm>
          <a:prstGeom prst="rect">
            <a:avLst/>
          </a:prstGeom>
          <a:solidFill>
            <a:srgbClr val="00C2CB"/>
          </a:solidFill>
          <a:ln/>
        </p:spPr>
      </p:sp>
      <p:sp>
        <p:nvSpPr>
          <p:cNvPr id="6" name="Text 4"/>
          <p:cNvSpPr/>
          <p:nvPr/>
        </p:nvSpPr>
        <p:spPr>
          <a:xfrm>
            <a:off x="347472" y="804672"/>
            <a:ext cx="21031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42032" y="804672"/>
            <a:ext cx="2926080" cy="301752"/>
          </a:xfrm>
          <a:prstGeom prst="rect">
            <a:avLst/>
          </a:prstGeom>
          <a:solidFill>
            <a:srgbClr val="00C2CB"/>
          </a:solidFill>
          <a:ln/>
        </p:spPr>
      </p:sp>
      <p:sp>
        <p:nvSpPr>
          <p:cNvPr id="8" name="Text 6"/>
          <p:cNvSpPr/>
          <p:nvPr/>
        </p:nvSpPr>
        <p:spPr>
          <a:xfrm>
            <a:off x="2615184" y="804672"/>
            <a:ext cx="28346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Fórmula / Regla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541264" y="804672"/>
            <a:ext cx="3566160" cy="301752"/>
          </a:xfrm>
          <a:prstGeom prst="rect">
            <a:avLst/>
          </a:prstGeom>
          <a:solidFill>
            <a:srgbClr val="00C2CB"/>
          </a:solidFill>
          <a:ln/>
        </p:spPr>
      </p:sp>
      <p:sp>
        <p:nvSpPr>
          <p:cNvPr id="10" name="Text 8"/>
          <p:cNvSpPr/>
          <p:nvPr/>
        </p:nvSpPr>
        <p:spPr>
          <a:xfrm>
            <a:off x="5614416" y="804672"/>
            <a:ext cx="3474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1106424"/>
            <a:ext cx="2194560" cy="301752"/>
          </a:xfrm>
          <a:prstGeom prst="rect">
            <a:avLst/>
          </a:prstGeom>
          <a:solidFill>
            <a:srgbClr val="1A2E45"/>
          </a:solidFill>
          <a:ln/>
        </p:spPr>
      </p:sp>
      <p:sp>
        <p:nvSpPr>
          <p:cNvPr id="12" name="Text 10"/>
          <p:cNvSpPr/>
          <p:nvPr/>
        </p:nvSpPr>
        <p:spPr>
          <a:xfrm>
            <a:off x="347472" y="1106424"/>
            <a:ext cx="21031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bits totales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542032" y="1106424"/>
            <a:ext cx="2926080" cy="301752"/>
          </a:xfrm>
          <a:prstGeom prst="rect">
            <a:avLst/>
          </a:prstGeom>
          <a:solidFill>
            <a:srgbClr val="1A2E45"/>
          </a:solidFill>
          <a:ln/>
        </p:spPr>
      </p:sp>
      <p:sp>
        <p:nvSpPr>
          <p:cNvPr id="14" name="Text 12"/>
          <p:cNvSpPr/>
          <p:nvPr/>
        </p:nvSpPr>
        <p:spPr>
          <a:xfrm>
            <a:off x="2615184" y="1106424"/>
            <a:ext cx="28346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= m + n + 1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541264" y="1106424"/>
            <a:ext cx="3566160" cy="301752"/>
          </a:xfrm>
          <a:prstGeom prst="rect">
            <a:avLst/>
          </a:prstGeom>
          <a:solidFill>
            <a:srgbClr val="1A2E45"/>
          </a:solidFill>
          <a:ln/>
        </p:spPr>
      </p:sp>
      <p:sp>
        <p:nvSpPr>
          <p:cNvPr id="16" name="Text 14"/>
          <p:cNvSpPr/>
          <p:nvPr/>
        </p:nvSpPr>
        <p:spPr>
          <a:xfrm>
            <a:off x="5614416" y="1106424"/>
            <a:ext cx="3474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bit signo + m entero + n fracción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1408176"/>
            <a:ext cx="2194560" cy="301752"/>
          </a:xfrm>
          <a:prstGeom prst="rect">
            <a:avLst/>
          </a:prstGeom>
          <a:solidFill>
            <a:srgbClr val="1E3A52"/>
          </a:solidFill>
          <a:ln/>
        </p:spPr>
      </p:sp>
      <p:sp>
        <p:nvSpPr>
          <p:cNvPr id="18" name="Text 16"/>
          <p:cNvSpPr/>
          <p:nvPr/>
        </p:nvSpPr>
        <p:spPr>
          <a:xfrm>
            <a:off x="347472" y="1408176"/>
            <a:ext cx="21031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Rango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542032" y="1408176"/>
            <a:ext cx="2926080" cy="301752"/>
          </a:xfrm>
          <a:prstGeom prst="rect">
            <a:avLst/>
          </a:prstGeom>
          <a:solidFill>
            <a:srgbClr val="1E3A52"/>
          </a:solidFill>
          <a:ln/>
        </p:spPr>
      </p:sp>
      <p:sp>
        <p:nvSpPr>
          <p:cNvPr id="20" name="Text 18"/>
          <p:cNvSpPr/>
          <p:nvPr/>
        </p:nvSpPr>
        <p:spPr>
          <a:xfrm>
            <a:off x="2615184" y="1408176"/>
            <a:ext cx="28346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[−2ᵐ,  2ᵐ − 2⁻ⁿ]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541264" y="1408176"/>
            <a:ext cx="3566160" cy="301752"/>
          </a:xfrm>
          <a:prstGeom prst="rect">
            <a:avLst/>
          </a:prstGeom>
          <a:solidFill>
            <a:srgbClr val="1E3A52"/>
          </a:solidFill>
          <a:ln/>
        </p:spPr>
      </p:sp>
      <p:sp>
        <p:nvSpPr>
          <p:cNvPr id="22" name="Text 20"/>
          <p:cNvSpPr/>
          <p:nvPr/>
        </p:nvSpPr>
        <p:spPr>
          <a:xfrm>
            <a:off x="5614416" y="1408176"/>
            <a:ext cx="3474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Simétrico excepto por el mínimo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1709928"/>
            <a:ext cx="2194560" cy="301752"/>
          </a:xfrm>
          <a:prstGeom prst="rect">
            <a:avLst/>
          </a:prstGeom>
          <a:solidFill>
            <a:srgbClr val="1A2E45"/>
          </a:solidFill>
          <a:ln/>
        </p:spPr>
      </p:sp>
      <p:sp>
        <p:nvSpPr>
          <p:cNvPr id="24" name="Text 22"/>
          <p:cNvSpPr/>
          <p:nvPr/>
        </p:nvSpPr>
        <p:spPr>
          <a:xfrm>
            <a:off x="347472" y="1709928"/>
            <a:ext cx="21031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Precisión (LSB)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542032" y="1709928"/>
            <a:ext cx="2926080" cy="301752"/>
          </a:xfrm>
          <a:prstGeom prst="rect">
            <a:avLst/>
          </a:prstGeom>
          <a:solidFill>
            <a:srgbClr val="1A2E45"/>
          </a:solidFill>
          <a:ln/>
        </p:spPr>
      </p:sp>
      <p:sp>
        <p:nvSpPr>
          <p:cNvPr id="26" name="Text 24"/>
          <p:cNvSpPr/>
          <p:nvPr/>
        </p:nvSpPr>
        <p:spPr>
          <a:xfrm>
            <a:off x="2615184" y="1709928"/>
            <a:ext cx="28346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2⁻ⁿ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541264" y="1709928"/>
            <a:ext cx="3566160" cy="301752"/>
          </a:xfrm>
          <a:prstGeom prst="rect">
            <a:avLst/>
          </a:prstGeom>
          <a:solidFill>
            <a:srgbClr val="1A2E45"/>
          </a:solidFill>
          <a:ln/>
        </p:spPr>
      </p:sp>
      <p:sp>
        <p:nvSpPr>
          <p:cNvPr id="28" name="Text 26"/>
          <p:cNvSpPr/>
          <p:nvPr/>
        </p:nvSpPr>
        <p:spPr>
          <a:xfrm>
            <a:off x="5614416" y="1709928"/>
            <a:ext cx="3474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Mínimo incremento representable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2011680"/>
            <a:ext cx="2194560" cy="301752"/>
          </a:xfrm>
          <a:prstGeom prst="rect">
            <a:avLst/>
          </a:prstGeom>
          <a:solidFill>
            <a:srgbClr val="1E3A52"/>
          </a:solidFill>
          <a:ln/>
        </p:spPr>
      </p:sp>
      <p:sp>
        <p:nvSpPr>
          <p:cNvPr id="30" name="Text 28"/>
          <p:cNvSpPr/>
          <p:nvPr/>
        </p:nvSpPr>
        <p:spPr>
          <a:xfrm>
            <a:off x="347472" y="2011680"/>
            <a:ext cx="21031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Rango dinámico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542032" y="2011680"/>
            <a:ext cx="2926080" cy="301752"/>
          </a:xfrm>
          <a:prstGeom prst="rect">
            <a:avLst/>
          </a:prstGeom>
          <a:solidFill>
            <a:srgbClr val="1E3A52"/>
          </a:solidFill>
          <a:ln/>
        </p:spPr>
      </p:sp>
      <p:sp>
        <p:nvSpPr>
          <p:cNvPr id="32" name="Text 30"/>
          <p:cNvSpPr/>
          <p:nvPr/>
        </p:nvSpPr>
        <p:spPr>
          <a:xfrm>
            <a:off x="2615184" y="2011680"/>
            <a:ext cx="28346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≈ 6.02·(N−1) dB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541264" y="2011680"/>
            <a:ext cx="3566160" cy="301752"/>
          </a:xfrm>
          <a:prstGeom prst="rect">
            <a:avLst/>
          </a:prstGeom>
          <a:solidFill>
            <a:srgbClr val="1E3A52"/>
          </a:solidFill>
          <a:ln/>
        </p:spPr>
      </p:sp>
      <p:sp>
        <p:nvSpPr>
          <p:cNvPr id="34" name="Text 32"/>
          <p:cNvSpPr/>
          <p:nvPr/>
        </p:nvSpPr>
        <p:spPr>
          <a:xfrm>
            <a:off x="5614416" y="2011680"/>
            <a:ext cx="3474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Regla: ~6 dB por bit útil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74320" y="2313432"/>
            <a:ext cx="2194560" cy="301752"/>
          </a:xfrm>
          <a:prstGeom prst="rect">
            <a:avLst/>
          </a:prstGeom>
          <a:solidFill>
            <a:srgbClr val="1A2E45"/>
          </a:solidFill>
          <a:ln/>
        </p:spPr>
      </p:sp>
      <p:sp>
        <p:nvSpPr>
          <p:cNvPr id="36" name="Text 34"/>
          <p:cNvSpPr/>
          <p:nvPr/>
        </p:nvSpPr>
        <p:spPr>
          <a:xfrm>
            <a:off x="347472" y="2313432"/>
            <a:ext cx="21031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 → Fixed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542032" y="2313432"/>
            <a:ext cx="2926080" cy="301752"/>
          </a:xfrm>
          <a:prstGeom prst="rect">
            <a:avLst/>
          </a:prstGeom>
          <a:solidFill>
            <a:srgbClr val="1A2E45"/>
          </a:solidFill>
          <a:ln/>
        </p:spPr>
      </p:sp>
      <p:sp>
        <p:nvSpPr>
          <p:cNvPr id="38" name="Text 36"/>
          <p:cNvSpPr/>
          <p:nvPr/>
        </p:nvSpPr>
        <p:spPr>
          <a:xfrm>
            <a:off x="2615184" y="2313432"/>
            <a:ext cx="28346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round(x × 2ⁿ)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541264" y="2313432"/>
            <a:ext cx="3566160" cy="301752"/>
          </a:xfrm>
          <a:prstGeom prst="rect">
            <a:avLst/>
          </a:prstGeom>
          <a:solidFill>
            <a:srgbClr val="1A2E45"/>
          </a:solidFill>
          <a:ln/>
        </p:spPr>
      </p:sp>
      <p:sp>
        <p:nvSpPr>
          <p:cNvPr id="40" name="Text 38"/>
          <p:cNvSpPr/>
          <p:nvPr/>
        </p:nvSpPr>
        <p:spPr>
          <a:xfrm>
            <a:off x="5614416" y="2313432"/>
            <a:ext cx="3474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1&lt;&lt;n en lugar de pow()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74320" y="2615184"/>
            <a:ext cx="2194560" cy="301752"/>
          </a:xfrm>
          <a:prstGeom prst="rect">
            <a:avLst/>
          </a:prstGeom>
          <a:solidFill>
            <a:srgbClr val="1E3A52"/>
          </a:solidFill>
          <a:ln/>
        </p:spPr>
      </p:sp>
      <p:sp>
        <p:nvSpPr>
          <p:cNvPr id="42" name="Text 40"/>
          <p:cNvSpPr/>
          <p:nvPr/>
        </p:nvSpPr>
        <p:spPr>
          <a:xfrm>
            <a:off x="347472" y="2615184"/>
            <a:ext cx="21031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→ Float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542032" y="2615184"/>
            <a:ext cx="2926080" cy="301752"/>
          </a:xfrm>
          <a:prstGeom prst="rect">
            <a:avLst/>
          </a:prstGeom>
          <a:solidFill>
            <a:srgbClr val="1E3A52"/>
          </a:solidFill>
          <a:ln/>
        </p:spPr>
      </p:sp>
      <p:sp>
        <p:nvSpPr>
          <p:cNvPr id="44" name="Text 42"/>
          <p:cNvSpPr/>
          <p:nvPr/>
        </p:nvSpPr>
        <p:spPr>
          <a:xfrm>
            <a:off x="2615184" y="2615184"/>
            <a:ext cx="28346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X / 2ⁿ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541264" y="2615184"/>
            <a:ext cx="3566160" cy="301752"/>
          </a:xfrm>
          <a:prstGeom prst="rect">
            <a:avLst/>
          </a:prstGeom>
          <a:solidFill>
            <a:srgbClr val="1E3A52"/>
          </a:solidFill>
          <a:ln/>
        </p:spPr>
      </p:sp>
      <p:sp>
        <p:nvSpPr>
          <p:cNvPr id="46" name="Text 44"/>
          <p:cNvSpPr/>
          <p:nvPr/>
        </p:nvSpPr>
        <p:spPr>
          <a:xfrm>
            <a:off x="5614416" y="2615184"/>
            <a:ext cx="3474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 a float ANTES de dividir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274320" y="2916936"/>
            <a:ext cx="2194560" cy="301752"/>
          </a:xfrm>
          <a:prstGeom prst="rect">
            <a:avLst/>
          </a:prstGeom>
          <a:solidFill>
            <a:srgbClr val="1A2E45"/>
          </a:solidFill>
          <a:ln/>
        </p:spPr>
      </p:sp>
      <p:sp>
        <p:nvSpPr>
          <p:cNvPr id="48" name="Text 46"/>
          <p:cNvSpPr/>
          <p:nvPr/>
        </p:nvSpPr>
        <p:spPr>
          <a:xfrm>
            <a:off x="347472" y="2916936"/>
            <a:ext cx="21031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Suma: overflow si...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2542032" y="2916936"/>
            <a:ext cx="2926080" cy="301752"/>
          </a:xfrm>
          <a:prstGeom prst="rect">
            <a:avLst/>
          </a:prstGeom>
          <a:solidFill>
            <a:srgbClr val="1A2E45"/>
          </a:solidFill>
          <a:ln/>
        </p:spPr>
      </p:sp>
      <p:sp>
        <p:nvSpPr>
          <p:cNvPr id="50" name="Text 48"/>
          <p:cNvSpPr/>
          <p:nvPr/>
        </p:nvSpPr>
        <p:spPr>
          <a:xfrm>
            <a:off x="2615184" y="2916936"/>
            <a:ext cx="28346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carries MSB distintos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5541264" y="2916936"/>
            <a:ext cx="3566160" cy="301752"/>
          </a:xfrm>
          <a:prstGeom prst="rect">
            <a:avLst/>
          </a:prstGeom>
          <a:solidFill>
            <a:srgbClr val="1A2E45"/>
          </a:solidFill>
          <a:ln/>
        </p:spPr>
      </p:sp>
      <p:sp>
        <p:nvSpPr>
          <p:cNvPr id="52" name="Text 50"/>
          <p:cNvSpPr/>
          <p:nvPr/>
        </p:nvSpPr>
        <p:spPr>
          <a:xfrm>
            <a:off x="5614416" y="2916936"/>
            <a:ext cx="3474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acumulador N+1 bits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274320" y="3218688"/>
            <a:ext cx="2194560" cy="301752"/>
          </a:xfrm>
          <a:prstGeom prst="rect">
            <a:avLst/>
          </a:prstGeom>
          <a:solidFill>
            <a:srgbClr val="1E3A52"/>
          </a:solidFill>
          <a:ln/>
        </p:spPr>
      </p:sp>
      <p:sp>
        <p:nvSpPr>
          <p:cNvPr id="54" name="Text 52"/>
          <p:cNvSpPr/>
          <p:nvPr/>
        </p:nvSpPr>
        <p:spPr>
          <a:xfrm>
            <a:off x="347472" y="3218688"/>
            <a:ext cx="21031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Saturación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2542032" y="3218688"/>
            <a:ext cx="2926080" cy="301752"/>
          </a:xfrm>
          <a:prstGeom prst="rect">
            <a:avLst/>
          </a:prstGeom>
          <a:solidFill>
            <a:srgbClr val="1E3A52"/>
          </a:solidFill>
          <a:ln/>
        </p:spPr>
      </p:sp>
      <p:sp>
        <p:nvSpPr>
          <p:cNvPr id="56" name="Text 54"/>
          <p:cNvSpPr/>
          <p:nvPr/>
        </p:nvSpPr>
        <p:spPr>
          <a:xfrm>
            <a:off x="2615184" y="3218688"/>
            <a:ext cx="28346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clamp(resultado, MIN, MAX)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5541264" y="3218688"/>
            <a:ext cx="3566160" cy="301752"/>
          </a:xfrm>
          <a:prstGeom prst="rect">
            <a:avLst/>
          </a:prstGeom>
          <a:solidFill>
            <a:srgbClr val="1E3A52"/>
          </a:solidFill>
          <a:ln/>
        </p:spPr>
      </p:sp>
      <p:sp>
        <p:nvSpPr>
          <p:cNvPr id="58" name="Text 56"/>
          <p:cNvSpPr/>
          <p:nvPr/>
        </p:nvSpPr>
        <p:spPr>
          <a:xfrm>
            <a:off x="5614416" y="3218688"/>
            <a:ext cx="3474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 rollover, permite no-linealidad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274320" y="3520440"/>
            <a:ext cx="2194560" cy="301752"/>
          </a:xfrm>
          <a:prstGeom prst="rect">
            <a:avLst/>
          </a:prstGeom>
          <a:solidFill>
            <a:srgbClr val="1A2E45"/>
          </a:solidFill>
          <a:ln/>
        </p:spPr>
      </p:sp>
      <p:sp>
        <p:nvSpPr>
          <p:cNvPr id="60" name="Text 58"/>
          <p:cNvSpPr/>
          <p:nvPr/>
        </p:nvSpPr>
        <p:spPr>
          <a:xfrm>
            <a:off x="347472" y="3520440"/>
            <a:ext cx="21031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Multiplicación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2542032" y="3520440"/>
            <a:ext cx="2926080" cy="301752"/>
          </a:xfrm>
          <a:prstGeom prst="rect">
            <a:avLst/>
          </a:prstGeom>
          <a:solidFill>
            <a:srgbClr val="1A2E45"/>
          </a:solidFill>
          <a:ln/>
        </p:spPr>
      </p:sp>
      <p:sp>
        <p:nvSpPr>
          <p:cNvPr id="62" name="Text 60"/>
          <p:cNvSpPr/>
          <p:nvPr/>
        </p:nvSpPr>
        <p:spPr>
          <a:xfrm>
            <a:off x="2615184" y="3520440"/>
            <a:ext cx="28346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× N → 2N bits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5541264" y="3520440"/>
            <a:ext cx="3566160" cy="301752"/>
          </a:xfrm>
          <a:prstGeom prst="rect">
            <a:avLst/>
          </a:prstGeom>
          <a:solidFill>
            <a:srgbClr val="1A2E45"/>
          </a:solidFill>
          <a:ln/>
        </p:spPr>
      </p:sp>
      <p:sp>
        <p:nvSpPr>
          <p:cNvPr id="64" name="Text 62"/>
          <p:cNvSpPr/>
          <p:nvPr/>
        </p:nvSpPr>
        <p:spPr>
          <a:xfrm>
            <a:off x="5614416" y="3520440"/>
            <a:ext cx="3474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duplican bits fraccionarios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274320" y="3822192"/>
            <a:ext cx="2194560" cy="301752"/>
          </a:xfrm>
          <a:prstGeom prst="rect">
            <a:avLst/>
          </a:prstGeom>
          <a:solidFill>
            <a:srgbClr val="1E3A52"/>
          </a:solidFill>
          <a:ln/>
        </p:spPr>
      </p:sp>
      <p:sp>
        <p:nvSpPr>
          <p:cNvPr id="66" name="Text 64"/>
          <p:cNvSpPr/>
          <p:nvPr/>
        </p:nvSpPr>
        <p:spPr>
          <a:xfrm>
            <a:off x="347472" y="3822192"/>
            <a:ext cx="21031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Truncamiento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2542032" y="3822192"/>
            <a:ext cx="2926080" cy="301752"/>
          </a:xfrm>
          <a:prstGeom prst="rect">
            <a:avLst/>
          </a:prstGeom>
          <a:solidFill>
            <a:srgbClr val="1E3A52"/>
          </a:solidFill>
          <a:ln/>
        </p:spPr>
      </p:sp>
      <p:sp>
        <p:nvSpPr>
          <p:cNvPr id="68" name="Text 66"/>
          <p:cNvSpPr/>
          <p:nvPr/>
        </p:nvSpPr>
        <p:spPr>
          <a:xfrm>
            <a:off x="2615184" y="3822192"/>
            <a:ext cx="28346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&gt;&gt; n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5541264" y="3822192"/>
            <a:ext cx="3566160" cy="301752"/>
          </a:xfrm>
          <a:prstGeom prst="rect">
            <a:avLst/>
          </a:prstGeom>
          <a:solidFill>
            <a:srgbClr val="1E3A52"/>
          </a:solidFill>
          <a:ln/>
        </p:spPr>
      </p:sp>
      <p:sp>
        <p:nvSpPr>
          <p:cNvPr id="70" name="Text 68"/>
          <p:cNvSpPr/>
          <p:nvPr/>
        </p:nvSpPr>
        <p:spPr>
          <a:xfrm>
            <a:off x="5614416" y="3822192"/>
            <a:ext cx="3474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Sesgo negativo, error [−2⁻ⁿ, 0]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274320" y="4123944"/>
            <a:ext cx="2194560" cy="301752"/>
          </a:xfrm>
          <a:prstGeom prst="rect">
            <a:avLst/>
          </a:prstGeom>
          <a:solidFill>
            <a:srgbClr val="1A2E45"/>
          </a:solidFill>
          <a:ln/>
        </p:spPr>
      </p:sp>
      <p:sp>
        <p:nvSpPr>
          <p:cNvPr id="72" name="Text 70"/>
          <p:cNvSpPr/>
          <p:nvPr/>
        </p:nvSpPr>
        <p:spPr>
          <a:xfrm>
            <a:off x="347472" y="4123944"/>
            <a:ext cx="21031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Redondeo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2542032" y="4123944"/>
            <a:ext cx="2926080" cy="301752"/>
          </a:xfrm>
          <a:prstGeom prst="rect">
            <a:avLst/>
          </a:prstGeom>
          <a:solidFill>
            <a:srgbClr val="1A2E45"/>
          </a:solidFill>
          <a:ln/>
        </p:spPr>
      </p:sp>
      <p:sp>
        <p:nvSpPr>
          <p:cNvPr id="74" name="Text 72"/>
          <p:cNvSpPr/>
          <p:nvPr/>
        </p:nvSpPr>
        <p:spPr>
          <a:xfrm>
            <a:off x="2615184" y="4123944"/>
            <a:ext cx="28346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(X + (1&lt;&lt;(n-1))) &gt;&gt; n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5541264" y="4123944"/>
            <a:ext cx="3566160" cy="301752"/>
          </a:xfrm>
          <a:prstGeom prst="rect">
            <a:avLst/>
          </a:prstGeom>
          <a:solidFill>
            <a:srgbClr val="1A2E45"/>
          </a:solidFill>
          <a:ln/>
        </p:spPr>
      </p:sp>
      <p:sp>
        <p:nvSpPr>
          <p:cNvPr id="76" name="Text 74"/>
          <p:cNvSpPr/>
          <p:nvPr/>
        </p:nvSpPr>
        <p:spPr>
          <a:xfrm>
            <a:off x="5614416" y="4123944"/>
            <a:ext cx="3474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sesgo, error [−½·2⁻ⁿ, ½·2⁻ⁿ]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274320" y="4425696"/>
            <a:ext cx="2194560" cy="301752"/>
          </a:xfrm>
          <a:prstGeom prst="rect">
            <a:avLst/>
          </a:prstGeom>
          <a:solidFill>
            <a:srgbClr val="1E3A52"/>
          </a:solidFill>
          <a:ln/>
        </p:spPr>
      </p:sp>
      <p:sp>
        <p:nvSpPr>
          <p:cNvPr id="78" name="Text 76"/>
          <p:cNvSpPr/>
          <p:nvPr/>
        </p:nvSpPr>
        <p:spPr>
          <a:xfrm>
            <a:off x="347472" y="4425696"/>
            <a:ext cx="21031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left n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2542032" y="4425696"/>
            <a:ext cx="2926080" cy="301752"/>
          </a:xfrm>
          <a:prstGeom prst="rect">
            <a:avLst/>
          </a:prstGeom>
          <a:solidFill>
            <a:srgbClr val="1E3A52"/>
          </a:solidFill>
          <a:ln/>
        </p:spPr>
      </p:sp>
      <p:sp>
        <p:nvSpPr>
          <p:cNvPr id="80" name="Text 78"/>
          <p:cNvSpPr/>
          <p:nvPr/>
        </p:nvSpPr>
        <p:spPr>
          <a:xfrm>
            <a:off x="2615184" y="4425696"/>
            <a:ext cx="28346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× 2ⁿ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5541264" y="4425696"/>
            <a:ext cx="3566160" cy="301752"/>
          </a:xfrm>
          <a:prstGeom prst="rect">
            <a:avLst/>
          </a:prstGeom>
          <a:solidFill>
            <a:srgbClr val="1E3A52"/>
          </a:solidFill>
          <a:ln/>
        </p:spPr>
      </p:sp>
      <p:sp>
        <p:nvSpPr>
          <p:cNvPr id="82" name="Text 80"/>
          <p:cNvSpPr/>
          <p:nvPr/>
        </p:nvSpPr>
        <p:spPr>
          <a:xfrm>
            <a:off x="5614416" y="4425696"/>
            <a:ext cx="3474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Puede producir overflow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274320" y="4727448"/>
            <a:ext cx="2194560" cy="301752"/>
          </a:xfrm>
          <a:prstGeom prst="rect">
            <a:avLst/>
          </a:prstGeom>
          <a:solidFill>
            <a:srgbClr val="1A2E45"/>
          </a:solidFill>
          <a:ln/>
        </p:spPr>
      </p:sp>
      <p:sp>
        <p:nvSpPr>
          <p:cNvPr id="84" name="Text 82"/>
          <p:cNvSpPr/>
          <p:nvPr/>
        </p:nvSpPr>
        <p:spPr>
          <a:xfrm>
            <a:off x="347472" y="4727448"/>
            <a:ext cx="21031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right n (aritmético)</a:t>
            </a:r>
            <a:endParaRPr lang="en-US" sz="1000" dirty="0"/>
          </a:p>
        </p:txBody>
      </p:sp>
      <p:sp>
        <p:nvSpPr>
          <p:cNvPr id="85" name="Shape 83"/>
          <p:cNvSpPr/>
          <p:nvPr/>
        </p:nvSpPr>
        <p:spPr>
          <a:xfrm>
            <a:off x="2542032" y="4727448"/>
            <a:ext cx="2926080" cy="301752"/>
          </a:xfrm>
          <a:prstGeom prst="rect">
            <a:avLst/>
          </a:prstGeom>
          <a:solidFill>
            <a:srgbClr val="1A2E45"/>
          </a:solidFill>
          <a:ln/>
        </p:spPr>
      </p:sp>
      <p:sp>
        <p:nvSpPr>
          <p:cNvPr id="86" name="Text 84"/>
          <p:cNvSpPr/>
          <p:nvPr/>
        </p:nvSpPr>
        <p:spPr>
          <a:xfrm>
            <a:off x="2615184" y="4727448"/>
            <a:ext cx="28346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÷ 2ⁿ, preserva signo</a:t>
            </a:r>
            <a:endParaRPr lang="en-US" sz="1000" dirty="0"/>
          </a:p>
        </p:txBody>
      </p:sp>
      <p:sp>
        <p:nvSpPr>
          <p:cNvPr id="87" name="Shape 85"/>
          <p:cNvSpPr/>
          <p:nvPr/>
        </p:nvSpPr>
        <p:spPr>
          <a:xfrm>
            <a:off x="5541264" y="4727448"/>
            <a:ext cx="3566160" cy="301752"/>
          </a:xfrm>
          <a:prstGeom prst="rect">
            <a:avLst/>
          </a:prstGeom>
          <a:solidFill>
            <a:srgbClr val="1A2E45"/>
          </a:solidFill>
          <a:ln/>
        </p:spPr>
      </p:sp>
      <p:sp>
        <p:nvSpPr>
          <p:cNvPr id="88" name="Text 86"/>
          <p:cNvSpPr/>
          <p:nvPr/>
        </p:nvSpPr>
        <p:spPr>
          <a:xfrm>
            <a:off x="5614416" y="4727448"/>
            <a:ext cx="3474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¡Usar aritmético para negativos!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Representación en Punto Fijo</dc:title>
  <dc:subject>PptxGenJS Presentation</dc:subject>
  <dc:creator>PptxGenJS</dc:creator>
  <cp:lastModifiedBy>PptxGenJS</cp:lastModifiedBy>
  <cp:revision>1</cp:revision>
  <dcterms:created xsi:type="dcterms:W3CDTF">2026-03-08T22:00:00Z</dcterms:created>
  <dcterms:modified xsi:type="dcterms:W3CDTF">2026-03-08T22:00:00Z</dcterms:modified>
</cp:coreProperties>
</file>