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037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3282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y Sistemas — FING UNCuyo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Práctico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4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Filtrado por Ventanas en MATLAB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82296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834640"/>
            <a:ext cx="3931920" cy="713232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999999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6928" y="283464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Filtro: 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Pasa-banda, ventana Kaiser (β = 7.5)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00600" y="2834640"/>
            <a:ext cx="3931920" cy="713232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999999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10328" y="283464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Banda: 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Hz – 3 400 Hz  (canal telefónico)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3931920" cy="713232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999999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" y="370332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Orden: 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100  |  Fs = 44 100 Hz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00600" y="3703320"/>
            <a:ext cx="3931920" cy="713232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  <a:prstDash val="solid"/>
          </a:ln>
          <a:effectLst>
            <a:outerShdw blurRad="50800" dist="25400" dir="8100000" algn="bl" rotWithShape="0">
              <a:srgbClr val="999999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10328" y="370332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Señal: 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Tchaikovsky.mat  (canal 1)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Consigna — Ejercicio 4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95528"/>
            <a:ext cx="347472" cy="34747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95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" y="749808"/>
            <a:ext cx="80467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filtro pasa-banda con filterDesigner: fc1 = 300 Hz, fc2 = 3400 Hz, ventana Kaiser β = 7.5, orden 10, Fs = 44100 Hz.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330452"/>
            <a:ext cx="347472" cy="34747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304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" y="1284732"/>
            <a:ext cx="80467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Aumentar el orden a 100. ¿Se modifica la respuesta en frecuencia?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865376"/>
            <a:ext cx="347472" cy="34747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653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4672" y="1819656"/>
            <a:ext cx="80467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como función MATLAB: File &gt; Generate MATLAB Code &gt; Filter Design Function.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400300"/>
            <a:ext cx="347472" cy="34747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4003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" y="2354580"/>
            <a:ext cx="80467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Tchaikovsky.mat como señal de entrada.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935224"/>
            <a:ext cx="347472" cy="34747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9352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4672" y="2889504"/>
            <a:ext cx="80467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el filtro diseñado en b) a la señal.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470148"/>
            <a:ext cx="347472" cy="34747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4701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4672" y="3424428"/>
            <a:ext cx="80467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Graficar espectros de la señal original y filtrada con my_dft().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005072"/>
            <a:ext cx="347472" cy="34747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05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4672" y="3959352"/>
            <a:ext cx="80467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Examinar ambas gráficas: ¿qué diferencia se observa?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539996"/>
            <a:ext cx="347472" cy="34747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5399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4672" y="4494276"/>
            <a:ext cx="80467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sound(signal_n, Fs) para reproducir la señal sin filtrar y la filtrada.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a–c: Diseño del Filtro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4023360" cy="4023360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046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Especificaciones del Filtro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20240" y="12984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Pasa-banda (bandpass)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0078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20240" y="170078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Kaiser  (β = 7.5)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inicial: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20240" y="21031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505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final: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20240" y="250545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100  ← usado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9077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fc₁: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20240" y="29077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Hz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3101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fc₂: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20240" y="33101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3 400 Hz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71246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920240" y="37124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44 100 Hz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26280" y="749808"/>
            <a:ext cx="4297680" cy="40233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80467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filtro_pto4.m  (generado por filterDesigner)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17720" y="1261872"/>
            <a:ext cx="41148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3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Hd = filtro_pto4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Fs   = 44100;   % Frec. muestreo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    = 100;     % Orden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Fc1  = 300;     % Corte inferior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Fc2  = 3400;    % Corte superior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Beta = 7.5;     % Parámetro Kaiser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win = kaiser(N+1, Beta);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 = fir1(N, [Fc1 Fc2]/(Fs/2),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'bandpass', win,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'scale');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3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Hd = dfilt.dffir(b);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a–c: Diseño del Filtro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264160" y="1188720"/>
            <a:ext cx="8559800" cy="383032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r>
              <a:rPr lang="es-AR" sz="1200" b="0" i="0" dirty="0">
                <a:solidFill>
                  <a:srgbClr val="008013"/>
                </a:solidFill>
                <a:effectLst/>
                <a:latin typeface="Menlo"/>
              </a:rPr>
              <a:t>% Comparación N=10, N=100 y N=1000</a:t>
            </a:r>
            <a:endParaRPr lang="es-AR" sz="1200" b="0" i="0" dirty="0">
              <a:effectLst/>
              <a:latin typeface="Menlo"/>
            </a:endParaRPr>
          </a:p>
          <a:p>
            <a:r>
              <a:rPr lang="es-AR" sz="1200" b="0" i="0" dirty="0">
                <a:effectLst/>
                <a:latin typeface="Menlo"/>
              </a:rPr>
              <a:t>Hd10 = Copy_of_filtro_pto4; </a:t>
            </a:r>
            <a:r>
              <a:rPr lang="es-AR" sz="1200" b="0" i="0" dirty="0">
                <a:solidFill>
                  <a:srgbClr val="008013"/>
                </a:solidFill>
                <a:effectLst/>
                <a:latin typeface="Menlo"/>
              </a:rPr>
              <a:t>% crear el filtro</a:t>
            </a:r>
            <a:endParaRPr lang="es-AR" sz="1200" b="0" i="0" dirty="0">
              <a:effectLst/>
              <a:latin typeface="Menlo"/>
            </a:endParaRPr>
          </a:p>
          <a:p>
            <a:r>
              <a:rPr lang="es-AR" sz="1200" b="0" i="0" dirty="0">
                <a:effectLst/>
                <a:latin typeface="Menlo"/>
              </a:rPr>
              <a:t>hd1000 = Copy_2_of_filtro_pto4;</a:t>
            </a:r>
          </a:p>
          <a:p>
            <a:r>
              <a:rPr lang="es-AR" sz="1200" b="0" i="0" dirty="0">
                <a:effectLst/>
                <a:latin typeface="Menlo"/>
              </a:rPr>
              <a:t>b10 = Hd10.Numerator;</a:t>
            </a:r>
          </a:p>
          <a:p>
            <a:r>
              <a:rPr lang="es-AR" sz="1200" b="0" i="0" dirty="0">
                <a:effectLst/>
                <a:latin typeface="Menlo"/>
              </a:rPr>
              <a:t>b100 = </a:t>
            </a:r>
            <a:r>
              <a:rPr lang="es-AR" sz="1200" b="0" i="0" dirty="0" err="1">
                <a:effectLst/>
                <a:latin typeface="Menlo"/>
              </a:rPr>
              <a:t>Hd.Numerator</a:t>
            </a:r>
            <a:r>
              <a:rPr lang="es-AR" sz="1200" b="0" i="0" dirty="0">
                <a:effectLst/>
                <a:latin typeface="Menlo"/>
              </a:rPr>
              <a:t>;</a:t>
            </a:r>
          </a:p>
          <a:p>
            <a:r>
              <a:rPr lang="es-AR" sz="1200" b="0" i="0" dirty="0">
                <a:effectLst/>
                <a:latin typeface="Menlo"/>
              </a:rPr>
              <a:t>b1000 = hd1000.Numerator;</a:t>
            </a:r>
          </a:p>
          <a:p>
            <a:endParaRPr lang="es-AR" sz="1200" b="0" i="0" dirty="0">
              <a:effectLst/>
              <a:latin typeface="Menlo"/>
            </a:endParaRPr>
          </a:p>
          <a:p>
            <a:r>
              <a:rPr lang="es-AR" sz="1200" b="0" i="0" dirty="0">
                <a:effectLst/>
                <a:latin typeface="Menlo"/>
              </a:rPr>
              <a:t>[H10, f] = </a:t>
            </a:r>
            <a:r>
              <a:rPr lang="es-AR" sz="1200" b="0" i="0" dirty="0" err="1">
                <a:effectLst/>
                <a:latin typeface="Menlo"/>
              </a:rPr>
              <a:t>freqz</a:t>
            </a:r>
            <a:r>
              <a:rPr lang="es-AR" sz="1200" b="0" i="0" dirty="0">
                <a:effectLst/>
                <a:latin typeface="Menlo"/>
              </a:rPr>
              <a:t>(b10, 1, 1024, 44100);</a:t>
            </a:r>
          </a:p>
          <a:p>
            <a:r>
              <a:rPr lang="es-AR" sz="1200" b="0" i="0" dirty="0">
                <a:effectLst/>
                <a:latin typeface="Menlo"/>
              </a:rPr>
              <a:t>[H100, ~] = </a:t>
            </a:r>
            <a:r>
              <a:rPr lang="es-AR" sz="1200" b="0" i="0" dirty="0" err="1">
                <a:effectLst/>
                <a:latin typeface="Menlo"/>
              </a:rPr>
              <a:t>freqz</a:t>
            </a:r>
            <a:r>
              <a:rPr lang="es-AR" sz="1200" b="0" i="0" dirty="0">
                <a:effectLst/>
                <a:latin typeface="Menlo"/>
              </a:rPr>
              <a:t>(b100, 1, 1024, 44100);</a:t>
            </a:r>
          </a:p>
          <a:p>
            <a:r>
              <a:rPr lang="es-AR" sz="1200" b="0" i="0" dirty="0">
                <a:effectLst/>
                <a:latin typeface="Menlo"/>
              </a:rPr>
              <a:t>[H1000, ~] = </a:t>
            </a:r>
            <a:r>
              <a:rPr lang="es-AR" sz="1200" b="0" i="0" dirty="0" err="1">
                <a:effectLst/>
                <a:latin typeface="Menlo"/>
              </a:rPr>
              <a:t>freqz</a:t>
            </a:r>
            <a:r>
              <a:rPr lang="es-AR" sz="1200" b="0" i="0" dirty="0">
                <a:effectLst/>
                <a:latin typeface="Menlo"/>
              </a:rPr>
              <a:t>(b1000, 1, 1024, 44100);</a:t>
            </a:r>
          </a:p>
          <a:p>
            <a:endParaRPr lang="es-AR" sz="1200" b="0" i="0" dirty="0">
              <a:effectLst/>
              <a:latin typeface="Menlo"/>
            </a:endParaRPr>
          </a:p>
          <a:p>
            <a:r>
              <a:rPr lang="es-AR" sz="1200" b="0" i="0" dirty="0">
                <a:effectLst/>
                <a:latin typeface="Menlo"/>
              </a:rPr>
              <a:t>figure;</a:t>
            </a:r>
          </a:p>
          <a:p>
            <a:r>
              <a:rPr lang="es-AR" sz="1200" b="0" i="0" dirty="0" err="1">
                <a:effectLst/>
                <a:latin typeface="Menlo"/>
              </a:rPr>
              <a:t>plot</a:t>
            </a:r>
            <a:r>
              <a:rPr lang="es-AR" sz="1200" b="0" i="0" dirty="0">
                <a:effectLst/>
                <a:latin typeface="Menlo"/>
              </a:rPr>
              <a:t>(f, 20*log10(</a:t>
            </a:r>
            <a:r>
              <a:rPr lang="es-AR" sz="1200" b="0" i="0" dirty="0" err="1">
                <a:effectLst/>
                <a:latin typeface="Menlo"/>
              </a:rPr>
              <a:t>abs</a:t>
            </a:r>
            <a:r>
              <a:rPr lang="es-AR" sz="1200" b="0" i="0" dirty="0">
                <a:effectLst/>
                <a:latin typeface="Menlo"/>
              </a:rPr>
              <a:t>(H10)), </a:t>
            </a:r>
            <a:r>
              <a:rPr lang="es-AR" sz="1200" b="0" i="0" dirty="0">
                <a:solidFill>
                  <a:srgbClr val="A709F5"/>
                </a:solidFill>
                <a:effectLst/>
                <a:latin typeface="Menlo"/>
              </a:rPr>
              <a:t>'r'</a:t>
            </a:r>
            <a:r>
              <a:rPr lang="es-AR" sz="1200" b="0" i="0" dirty="0">
                <a:effectLst/>
                <a:latin typeface="Menlo"/>
              </a:rPr>
              <a:t>); </a:t>
            </a:r>
            <a:r>
              <a:rPr lang="es-AR" sz="1200" b="0" i="0" dirty="0" err="1">
                <a:effectLst/>
                <a:latin typeface="Menlo"/>
              </a:rPr>
              <a:t>hold</a:t>
            </a:r>
            <a:r>
              <a:rPr lang="es-AR" sz="1200" b="0" i="0" dirty="0">
                <a:effectLst/>
                <a:latin typeface="Menlo"/>
              </a:rPr>
              <a:t> </a:t>
            </a:r>
            <a:r>
              <a:rPr lang="es-AR" sz="1200" b="0" i="0" dirty="0" err="1">
                <a:solidFill>
                  <a:srgbClr val="A709F5"/>
                </a:solidFill>
                <a:effectLst/>
                <a:latin typeface="Menlo"/>
              </a:rPr>
              <a:t>on</a:t>
            </a:r>
            <a:r>
              <a:rPr lang="es-AR" sz="1200" b="0" i="0" dirty="0">
                <a:effectLst/>
                <a:latin typeface="Menlo"/>
              </a:rPr>
              <a:t>;</a:t>
            </a:r>
          </a:p>
          <a:p>
            <a:r>
              <a:rPr lang="es-AR" sz="1200" b="0" i="0" dirty="0" err="1">
                <a:effectLst/>
                <a:latin typeface="Menlo"/>
              </a:rPr>
              <a:t>plot</a:t>
            </a:r>
            <a:r>
              <a:rPr lang="es-AR" sz="1200" b="0" i="0" dirty="0">
                <a:effectLst/>
                <a:latin typeface="Menlo"/>
              </a:rPr>
              <a:t>(f, 20*log10(</a:t>
            </a:r>
            <a:r>
              <a:rPr lang="es-AR" sz="1200" b="0" i="0" dirty="0" err="1">
                <a:effectLst/>
                <a:latin typeface="Menlo"/>
              </a:rPr>
              <a:t>abs</a:t>
            </a:r>
            <a:r>
              <a:rPr lang="es-AR" sz="1200" b="0" i="0" dirty="0">
                <a:effectLst/>
                <a:latin typeface="Menlo"/>
              </a:rPr>
              <a:t>(H100)), </a:t>
            </a:r>
            <a:r>
              <a:rPr lang="es-AR" sz="1200" b="0" i="0" dirty="0">
                <a:solidFill>
                  <a:srgbClr val="A709F5"/>
                </a:solidFill>
                <a:effectLst/>
                <a:latin typeface="Menlo"/>
              </a:rPr>
              <a:t>'b'</a:t>
            </a:r>
            <a:r>
              <a:rPr lang="es-AR" sz="1200" b="0" i="0" dirty="0">
                <a:effectLst/>
                <a:latin typeface="Menlo"/>
              </a:rPr>
              <a:t>);</a:t>
            </a:r>
          </a:p>
          <a:p>
            <a:r>
              <a:rPr lang="es-AR" sz="1200" b="0" i="0" dirty="0" err="1">
                <a:effectLst/>
                <a:latin typeface="Menlo"/>
              </a:rPr>
              <a:t>plot</a:t>
            </a:r>
            <a:r>
              <a:rPr lang="es-AR" sz="1200" b="0" i="0" dirty="0">
                <a:effectLst/>
                <a:latin typeface="Menlo"/>
              </a:rPr>
              <a:t>(f, 20*log10(</a:t>
            </a:r>
            <a:r>
              <a:rPr lang="es-AR" sz="1200" b="0" i="0" dirty="0" err="1">
                <a:effectLst/>
                <a:latin typeface="Menlo"/>
              </a:rPr>
              <a:t>abs</a:t>
            </a:r>
            <a:r>
              <a:rPr lang="es-AR" sz="1200" b="0" i="0" dirty="0">
                <a:effectLst/>
                <a:latin typeface="Menlo"/>
              </a:rPr>
              <a:t>(H1000)), </a:t>
            </a:r>
            <a:r>
              <a:rPr lang="es-AR" sz="1200" b="0" i="0" dirty="0">
                <a:solidFill>
                  <a:srgbClr val="A709F5"/>
                </a:solidFill>
                <a:effectLst/>
                <a:latin typeface="Menlo"/>
              </a:rPr>
              <a:t>'g'</a:t>
            </a:r>
            <a:r>
              <a:rPr lang="es-AR" sz="1200" b="0" i="0" dirty="0">
                <a:effectLst/>
                <a:latin typeface="Menlo"/>
              </a:rPr>
              <a:t>);</a:t>
            </a:r>
          </a:p>
          <a:p>
            <a:r>
              <a:rPr lang="es-AR" sz="1200" b="0" i="0" dirty="0" err="1">
                <a:effectLst/>
                <a:latin typeface="Menlo"/>
              </a:rPr>
              <a:t>legend</a:t>
            </a:r>
            <a:r>
              <a:rPr lang="es-AR" sz="1200" b="0" i="0" dirty="0">
                <a:effectLst/>
                <a:latin typeface="Menlo"/>
              </a:rPr>
              <a:t>(</a:t>
            </a:r>
            <a:r>
              <a:rPr lang="es-AR" sz="1200" b="0" i="0" dirty="0">
                <a:solidFill>
                  <a:srgbClr val="A709F5"/>
                </a:solidFill>
                <a:effectLst/>
                <a:latin typeface="Menlo"/>
              </a:rPr>
              <a:t>'N=10'</a:t>
            </a:r>
            <a:r>
              <a:rPr lang="es-AR" sz="1200" b="0" i="0" dirty="0">
                <a:effectLst/>
                <a:latin typeface="Menlo"/>
              </a:rPr>
              <a:t>, </a:t>
            </a:r>
            <a:r>
              <a:rPr lang="es-AR" sz="1200" b="0" i="0" dirty="0">
                <a:solidFill>
                  <a:srgbClr val="A709F5"/>
                </a:solidFill>
                <a:effectLst/>
                <a:latin typeface="Menlo"/>
              </a:rPr>
              <a:t>'N=100'</a:t>
            </a:r>
            <a:r>
              <a:rPr lang="es-AR" sz="1200" b="0" i="0" dirty="0">
                <a:effectLst/>
                <a:latin typeface="Menlo"/>
              </a:rPr>
              <a:t>, </a:t>
            </a:r>
            <a:r>
              <a:rPr lang="es-AR" sz="1200" b="0" i="0" dirty="0">
                <a:solidFill>
                  <a:srgbClr val="A709F5"/>
                </a:solidFill>
                <a:effectLst/>
                <a:latin typeface="Menlo"/>
              </a:rPr>
              <a:t>'N=1000'</a:t>
            </a:r>
            <a:r>
              <a:rPr lang="es-AR" sz="1200" b="0" i="0" dirty="0">
                <a:effectLst/>
                <a:latin typeface="Menlo"/>
              </a:rPr>
              <a:t>);</a:t>
            </a:r>
          </a:p>
          <a:p>
            <a:r>
              <a:rPr lang="es-AR" sz="1200" b="0" i="0" dirty="0" err="1">
                <a:effectLst/>
                <a:latin typeface="Menlo"/>
              </a:rPr>
              <a:t>grid</a:t>
            </a:r>
            <a:r>
              <a:rPr lang="es-AR" sz="1200" b="0" i="0" dirty="0">
                <a:effectLst/>
                <a:latin typeface="Menlo"/>
              </a:rPr>
              <a:t> </a:t>
            </a:r>
            <a:r>
              <a:rPr lang="es-AR" sz="1200" b="0" i="0" dirty="0" err="1">
                <a:solidFill>
                  <a:srgbClr val="A709F5"/>
                </a:solidFill>
                <a:effectLst/>
                <a:latin typeface="Menlo"/>
              </a:rPr>
              <a:t>on</a:t>
            </a:r>
            <a:r>
              <a:rPr lang="es-AR" sz="1200" b="0" i="0" dirty="0">
                <a:effectLst/>
                <a:latin typeface="Menlo"/>
              </a:rPr>
              <a:t>;</a:t>
            </a:r>
          </a:p>
          <a:p>
            <a:r>
              <a:rPr lang="es-AR" sz="1200" b="0" i="0" dirty="0" err="1">
                <a:effectLst/>
                <a:latin typeface="Menlo"/>
              </a:rPr>
              <a:t>xlabel</a:t>
            </a:r>
            <a:r>
              <a:rPr lang="es-AR" sz="1200" b="0" i="0" dirty="0">
                <a:effectLst/>
                <a:latin typeface="Menlo"/>
              </a:rPr>
              <a:t>(</a:t>
            </a:r>
            <a:r>
              <a:rPr lang="es-AR" sz="1200" b="0" i="0" dirty="0">
                <a:solidFill>
                  <a:srgbClr val="A709F5"/>
                </a:solidFill>
                <a:effectLst/>
                <a:latin typeface="Menlo"/>
              </a:rPr>
              <a:t>'Frecuencia [Hz]'</a:t>
            </a:r>
            <a:r>
              <a:rPr lang="es-AR" sz="1200" b="0" i="0" dirty="0">
                <a:effectLst/>
                <a:latin typeface="Menlo"/>
              </a:rPr>
              <a:t>);</a:t>
            </a:r>
          </a:p>
          <a:p>
            <a:r>
              <a:rPr lang="es-AR" sz="1200" b="0" i="0" dirty="0" err="1">
                <a:effectLst/>
                <a:latin typeface="Menlo"/>
              </a:rPr>
              <a:t>ylabel</a:t>
            </a:r>
            <a:r>
              <a:rPr lang="es-AR" sz="1200" b="0" i="0" dirty="0">
                <a:effectLst/>
                <a:latin typeface="Menlo"/>
              </a:rPr>
              <a:t>(</a:t>
            </a:r>
            <a:r>
              <a:rPr lang="es-AR" sz="1200" b="0" i="0" dirty="0">
                <a:solidFill>
                  <a:srgbClr val="A709F5"/>
                </a:solidFill>
                <a:effectLst/>
                <a:latin typeface="Menlo"/>
              </a:rPr>
              <a:t>'Magnitud [dB]'</a:t>
            </a:r>
            <a:r>
              <a:rPr lang="es-AR" sz="1200" b="0" i="0" dirty="0">
                <a:effectLst/>
                <a:latin typeface="Menlo"/>
              </a:rPr>
              <a:t>);</a:t>
            </a:r>
          </a:p>
          <a:p>
            <a:r>
              <a:rPr lang="es-AR" sz="1200" b="0" i="0" dirty="0" err="1">
                <a:effectLst/>
                <a:latin typeface="Menlo"/>
              </a:rPr>
              <a:t>title</a:t>
            </a:r>
            <a:r>
              <a:rPr lang="es-AR" sz="1200" b="0" i="0" dirty="0">
                <a:effectLst/>
                <a:latin typeface="Menlo"/>
              </a:rPr>
              <a:t>(</a:t>
            </a:r>
            <a:r>
              <a:rPr lang="es-AR" sz="1200" b="0" i="0" dirty="0">
                <a:solidFill>
                  <a:srgbClr val="A709F5"/>
                </a:solidFill>
                <a:effectLst/>
                <a:latin typeface="Menlo"/>
              </a:rPr>
              <a:t>'Respuesta en frecuencia: N=10 vs N=100 vs N=1000'</a:t>
            </a:r>
            <a:r>
              <a:rPr lang="es-AR" sz="1200" b="0" i="0" dirty="0">
                <a:effectLst/>
                <a:latin typeface="Menlo"/>
              </a:rPr>
              <a:t>);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80467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filtro_pto4.m  (generado por filterDesigner)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6893" y="1421892"/>
            <a:ext cx="41148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76932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b): Respuesta en Frecuencia — N = 10 vs N = 100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45788" y="477039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11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Aumentar el orden genera una banda de transición más estrecha y mayor atenuación en la banda suprimida, aunque con un mayor ripple en la misma.</a:t>
            </a:r>
            <a:endParaRPr lang="es-AR" sz="1150" dirty="0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943E2BD9-FFDA-4094-8328-C35DA9860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290" y="611766"/>
            <a:ext cx="7601419" cy="41586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AR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d–f: Aplicación del Filtro y </a:t>
            </a:r>
            <a:r>
              <a:rPr 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Gráficas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635508"/>
            <a:ext cx="5394960" cy="443179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57607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Tp5_ej4.m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93192" y="881126"/>
            <a:ext cx="52120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3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clc; clear; close all;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load('Tchaikovsky.mat');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 = Fs;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signal(:,1);   % canal 1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d) Crear el filtro</a:t>
            </a:r>
            <a:endParaRPr lang="en-US" sz="1000" dirty="0"/>
          </a:p>
          <a:p>
            <a:r>
              <a:rPr lang="es-AR" sz="1000" dirty="0" err="1">
                <a:solidFill>
                  <a:srgbClr val="1A3060"/>
                </a:solidFill>
                <a:latin typeface="Consolas" pitchFamily="34" charset="0"/>
              </a:rPr>
              <a:t>Hd</a:t>
            </a:r>
            <a:r>
              <a:rPr lang="es-AR" sz="1000" dirty="0">
                <a:solidFill>
                  <a:srgbClr val="1A3060"/>
                </a:solidFill>
                <a:latin typeface="Consolas" pitchFamily="34" charset="0"/>
              </a:rPr>
              <a:t> = filtro_pto4; </a:t>
            </a:r>
          </a:p>
          <a:p>
            <a:endParaRPr lang="en-US" sz="1000" dirty="0">
              <a:solidFill>
                <a:srgbClr val="1A3060"/>
              </a:solidFill>
              <a:latin typeface="Consolas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A3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e) Aplicar </a:t>
            </a:r>
            <a:r>
              <a:rPr lang="en-US" sz="1000" dirty="0" err="1">
                <a:solidFill>
                  <a:srgbClr val="1A3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</a:t>
            </a:r>
            <a:r>
              <a:rPr lang="en-US" sz="1000" dirty="0">
                <a:solidFill>
                  <a:srgbClr val="1A3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 err="1">
                <a:solidFill>
                  <a:srgbClr val="1A3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filtro</a:t>
            </a:r>
            <a:endParaRPr lang="en-US" sz="1000" dirty="0"/>
          </a:p>
          <a:p>
            <a:r>
              <a:rPr lang="es-AR" sz="1000" dirty="0">
                <a:solidFill>
                  <a:srgbClr val="1A3060"/>
                </a:solidFill>
                <a:latin typeface="Consolas" pitchFamily="34" charset="0"/>
              </a:rPr>
              <a:t>b = </a:t>
            </a:r>
            <a:r>
              <a:rPr lang="es-AR" sz="1000" dirty="0" err="1">
                <a:solidFill>
                  <a:srgbClr val="1A3060"/>
                </a:solidFill>
                <a:latin typeface="Consolas" pitchFamily="34" charset="0"/>
              </a:rPr>
              <a:t>Hd.Numerator</a:t>
            </a:r>
            <a:r>
              <a:rPr lang="es-AR" sz="1000" dirty="0">
                <a:solidFill>
                  <a:srgbClr val="1A3060"/>
                </a:solidFill>
                <a:latin typeface="Consolas" pitchFamily="34" charset="0"/>
              </a:rPr>
              <a:t>;</a:t>
            </a:r>
          </a:p>
          <a:p>
            <a:r>
              <a:rPr lang="es-AR" sz="1000" dirty="0" err="1">
                <a:solidFill>
                  <a:srgbClr val="1A3060"/>
                </a:solidFill>
                <a:latin typeface="Consolas" pitchFamily="34" charset="0"/>
              </a:rPr>
              <a:t>x_filtered</a:t>
            </a:r>
            <a:r>
              <a:rPr lang="es-AR" sz="1000" dirty="0">
                <a:solidFill>
                  <a:srgbClr val="1A3060"/>
                </a:solidFill>
                <a:latin typeface="Consolas" pitchFamily="34" charset="0"/>
              </a:rPr>
              <a:t> = </a:t>
            </a:r>
            <a:r>
              <a:rPr lang="es-AR" sz="1000" dirty="0" err="1">
                <a:solidFill>
                  <a:srgbClr val="1A3060"/>
                </a:solidFill>
                <a:latin typeface="Consolas" pitchFamily="34" charset="0"/>
              </a:rPr>
              <a:t>filter</a:t>
            </a:r>
            <a:r>
              <a:rPr lang="es-AR" sz="1000" dirty="0">
                <a:solidFill>
                  <a:srgbClr val="1A3060"/>
                </a:solidFill>
                <a:latin typeface="Consolas" pitchFamily="34" charset="0"/>
              </a:rPr>
              <a:t>(b, 1, x);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A3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f) Graficar espectros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[f_orig, mag_orig] = my_dft(x, fs);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[f_filt, mag_filt] = my_dft(x_filtered, fs);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figure;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plot(f_orig, mag_orig, 'b'); hold on;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plot(f_filt, mag_filt, 'r');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 on;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legend('Original','Filtrada');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xlabel('Frecuencia [Hz]');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ylabel('Magnitud');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title('Espectros');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xlim([0 4000]);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h) Reproducir audio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sound(x, fs)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sound(x_filtered, fs)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89320" y="749808"/>
            <a:ext cx="2834640" cy="841248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999999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89320" y="749808"/>
            <a:ext cx="365760" cy="8412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749808"/>
            <a:ext cx="365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19088" y="80467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Tchaikovsky.mat y seleccionar canal 1.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89320" y="1728216"/>
            <a:ext cx="2834640" cy="841248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999999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89320" y="1728216"/>
            <a:ext cx="365760" cy="841248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1728216"/>
            <a:ext cx="365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19088" y="17830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filtro con filter(Hd, x). El objeto dfilt es compatible con filter().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89320" y="2706624"/>
            <a:ext cx="2834640" cy="841248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999999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89320" y="2706624"/>
            <a:ext cx="365760" cy="841248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2706624"/>
            <a:ext cx="365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19088" y="276148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y graficar los espectros con my_dft().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89320" y="3685032"/>
            <a:ext cx="2834640" cy="841248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  <a:prstDash val="solid"/>
          </a:ln>
          <a:effectLst>
            <a:outerShdw blurRad="38100" dist="12700" dir="8100000" algn="bl" rotWithShape="0">
              <a:srgbClr val="999999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89320" y="3685032"/>
            <a:ext cx="365760" cy="8412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9320" y="3685032"/>
            <a:ext cx="365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19088" y="3739896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Reproducir señal original y filtrada con sound().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g): Espectros — Señal Original vs. Filtrada</a:t>
            </a:r>
            <a:endParaRPr lang="en-US" sz="2000" dirty="0"/>
          </a:p>
        </p:txBody>
      </p:sp>
      <p:pic>
        <p:nvPicPr>
          <p:cNvPr id="4" name="Image 0" descr="/mnt/user-data/uploads/177610677254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4360"/>
            <a:ext cx="3018815" cy="2277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0" y="713232"/>
            <a:ext cx="2743200" cy="3931920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17920" y="777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Observaciones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17920" y="1371600"/>
            <a:ext cx="109728" cy="320040"/>
          </a:xfrm>
          <a:prstGeom prst="rect">
            <a:avLst/>
          </a:prstGeom>
          <a:solidFill>
            <a:srgbClr val="2255CC"/>
          </a:solidFill>
          <a:ln w="12700">
            <a:solidFill>
              <a:srgbClr val="2255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0" y="12344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 original (azul): contiene componentes en todo el rango 0–4 kHz.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17920" y="2029968"/>
            <a:ext cx="109728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0" y="189280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 filtrada (roja): componentes por debajo de 300 Hz eliminadas.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17920" y="2688336"/>
            <a:ext cx="109728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0" y="2551176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filtro preserva la banda 300–3400 Hz con mínima distorsión.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17920" y="3346704"/>
            <a:ext cx="109728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3209544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componentes por encima de 3.4 kHz están muy atenuadas.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17920" y="4005072"/>
            <a:ext cx="109728" cy="32004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0" y="386791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ventana Kaiser (β=7.5) logra alta atenuación con baja ondulación.</a:t>
            </a:r>
            <a:endParaRPr lang="en-US" sz="1100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414347BE-598A-4293-98F8-A267EBA437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49" y="2857501"/>
            <a:ext cx="2980572" cy="2277352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50A3D2A2-4A7C-49C0-B1B9-0BA443FC0C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7521" y="2857502"/>
            <a:ext cx="2904449" cy="2277352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56DD4B48-1069-4FBF-A759-6219DAE898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8815" y="613516"/>
            <a:ext cx="2954037" cy="22439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943</Words>
  <Application>Microsoft Office PowerPoint</Application>
  <PresentationFormat>Presentación en pantalla (16:9)</PresentationFormat>
  <Paragraphs>130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Calibri</vt:lpstr>
      <vt:lpstr>Consolas</vt:lpstr>
      <vt:lpstr>Menlo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TP5 - Ejercicio 4: Filtrado por Ventanas en MATLAB</dc:title>
  <dc:subject>PptxGenJS Presentation</dc:subject>
  <dc:creator>PptxGenJS</dc:creator>
  <cp:lastModifiedBy>juan stella</cp:lastModifiedBy>
  <cp:revision>12</cp:revision>
  <dcterms:created xsi:type="dcterms:W3CDTF">2026-04-13T19:02:41Z</dcterms:created>
  <dcterms:modified xsi:type="dcterms:W3CDTF">2026-04-21T02:37:37Z</dcterms:modified>
</cp:coreProperties>
</file>