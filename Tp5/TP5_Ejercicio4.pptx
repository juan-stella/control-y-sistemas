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37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282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y Sistemas — FING UNCuyo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4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 por Ventanas en MATLAB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82296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Pasa-banda, ventana Kaiser (β = 7.5)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283464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10328" y="283464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 – 3 400 Hz  (canal telefónico)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|  Fs = 44 100 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3703320"/>
            <a:ext cx="3931920" cy="713232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50800" dist="25400" dir="8100000" algn="bl" rotWithShape="0">
              <a:srgbClr val="999999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0328" y="3703320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Señal: </a:t>
            </a: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Tchaikovsky.mat  (canal 1)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 — Ejercicio 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95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" y="74980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filtro pasa-banda con filterDesigner: fc1 = 300 Hz, fc2 = 3400 Hz, ventana Kaiser β = 7.5, orden 10, Fs = 44100 Hz.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304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128473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a 100. ¿Se modifica la respuesta en frecuencia?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" y="181965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como función MATLAB: File &gt; Generate MATLAB Code &gt; Filter Design Function.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003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" y="2354580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Tchaikovsky.mat como señal de entrada.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04672" y="2889504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filtro diseñado en b) a la señal.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701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" y="3424428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Graficar espectros de la señal original y filtrada con my_dft().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3959352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Examinar ambas gráficas: ¿qué diferencia se observa?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5399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" y="4494276"/>
            <a:ext cx="80467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sound(signal_n, Fs) para reproducir la señal sin filtrar y la filtrada.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a–c: Diseño del Filtro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4023360" cy="402336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0467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Especificaciones del Filtro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920240" y="12984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Pasa-banda (bandpass)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007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92024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 (β = 7.5)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inicial: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05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final: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  ← usado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9077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fc₁: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202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Hz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3101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fc₂: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33101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3 400 Hz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1246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7124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44 100 Hz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20240" y="4114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flotante, doble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26280" y="749808"/>
            <a:ext cx="4297680" cy="40233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8046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filtro_pto4.m  (generado por filterDesigner)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1261872"/>
            <a:ext cx="4114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Hd = filtro_pto4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Fs   = 44100;   % Frec. muestreo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    = 100;     % Orden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Fc1  = 300;     % Corte inferior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Fc2  = 3400;    % Corte superior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Beta = 7.5;     % Parámetro Kaiser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win = kaiser(N+1, Beta);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 = fir1(N, [Fc1 Fc2]/(Fs/2),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'bandpass', win,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'scale');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Hd = dfilt.dffir(b);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a–c: Diseño del Filtro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264160" y="1188720"/>
            <a:ext cx="8559800" cy="38303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r>
              <a:rPr lang="es-AR" sz="1200" b="0" i="0" dirty="0">
                <a:solidFill>
                  <a:srgbClr val="008013"/>
                </a:solidFill>
                <a:effectLst/>
                <a:latin typeface="Menlo"/>
              </a:rPr>
              <a:t>% Comparación N=10, N=100 y N=1000</a:t>
            </a:r>
            <a:endParaRPr lang="es-AR" sz="1200" b="0" i="0" dirty="0">
              <a:effectLst/>
              <a:latin typeface="Menlo"/>
            </a:endParaRPr>
          </a:p>
          <a:p>
            <a:r>
              <a:rPr lang="es-AR" sz="1200" b="0" i="0" dirty="0">
                <a:effectLst/>
                <a:latin typeface="Menlo"/>
              </a:rPr>
              <a:t>Hd10 = Copy_of_filtro_pto4; </a:t>
            </a:r>
            <a:r>
              <a:rPr lang="es-AR" sz="1200" b="0" i="0" dirty="0">
                <a:solidFill>
                  <a:srgbClr val="008013"/>
                </a:solidFill>
                <a:effectLst/>
                <a:latin typeface="Menlo"/>
              </a:rPr>
              <a:t>% crear el filtro</a:t>
            </a:r>
            <a:endParaRPr lang="es-AR" sz="1200" b="0" i="0" dirty="0">
              <a:effectLst/>
              <a:latin typeface="Menlo"/>
            </a:endParaRPr>
          </a:p>
          <a:p>
            <a:r>
              <a:rPr lang="es-AR" sz="1200" b="0" i="0" dirty="0">
                <a:effectLst/>
                <a:latin typeface="Menlo"/>
              </a:rPr>
              <a:t>hd1000 = Copy_2_of_filtro_pto4;</a:t>
            </a:r>
          </a:p>
          <a:p>
            <a:r>
              <a:rPr lang="es-AR" sz="1200" b="0" i="0" dirty="0">
                <a:effectLst/>
                <a:latin typeface="Menlo"/>
              </a:rPr>
              <a:t>b10 = Hd10.Numerator;</a:t>
            </a:r>
          </a:p>
          <a:p>
            <a:r>
              <a:rPr lang="es-AR" sz="1200" b="0" i="0" dirty="0">
                <a:effectLst/>
                <a:latin typeface="Menlo"/>
              </a:rPr>
              <a:t>b100 = </a:t>
            </a:r>
            <a:r>
              <a:rPr lang="es-AR" sz="1200" b="0" i="0" dirty="0" err="1">
                <a:effectLst/>
                <a:latin typeface="Menlo"/>
              </a:rPr>
              <a:t>Hd.Numerator</a:t>
            </a:r>
            <a:r>
              <a:rPr lang="es-AR" sz="1200" b="0" i="0" dirty="0">
                <a:effectLst/>
                <a:latin typeface="Menlo"/>
              </a:rPr>
              <a:t>;</a:t>
            </a:r>
          </a:p>
          <a:p>
            <a:r>
              <a:rPr lang="es-AR" sz="1200" b="0" i="0" dirty="0">
                <a:effectLst/>
                <a:latin typeface="Menlo"/>
              </a:rPr>
              <a:t>b1000 = hd1000.Numerator;</a:t>
            </a:r>
          </a:p>
          <a:p>
            <a:endParaRPr lang="es-AR" sz="1200" b="0" i="0" dirty="0">
              <a:effectLst/>
              <a:latin typeface="Menlo"/>
            </a:endParaRPr>
          </a:p>
          <a:p>
            <a:r>
              <a:rPr lang="es-AR" sz="1200" b="0" i="0" dirty="0">
                <a:effectLst/>
                <a:latin typeface="Menlo"/>
              </a:rPr>
              <a:t>[H10, f] = </a:t>
            </a:r>
            <a:r>
              <a:rPr lang="es-AR" sz="1200" b="0" i="0" dirty="0" err="1">
                <a:effectLst/>
                <a:latin typeface="Menlo"/>
              </a:rPr>
              <a:t>freqz</a:t>
            </a:r>
            <a:r>
              <a:rPr lang="es-AR" sz="1200" b="0" i="0" dirty="0">
                <a:effectLst/>
                <a:latin typeface="Menlo"/>
              </a:rPr>
              <a:t>(b10, 1, 1024, 44100);</a:t>
            </a:r>
          </a:p>
          <a:p>
            <a:r>
              <a:rPr lang="es-AR" sz="1200" b="0" i="0" dirty="0">
                <a:effectLst/>
                <a:latin typeface="Menlo"/>
              </a:rPr>
              <a:t>[H100, ~] = </a:t>
            </a:r>
            <a:r>
              <a:rPr lang="es-AR" sz="1200" b="0" i="0" dirty="0" err="1">
                <a:effectLst/>
                <a:latin typeface="Menlo"/>
              </a:rPr>
              <a:t>freqz</a:t>
            </a:r>
            <a:r>
              <a:rPr lang="es-AR" sz="1200" b="0" i="0" dirty="0">
                <a:effectLst/>
                <a:latin typeface="Menlo"/>
              </a:rPr>
              <a:t>(b100, 1, 1024, 44100);</a:t>
            </a:r>
          </a:p>
          <a:p>
            <a:r>
              <a:rPr lang="es-AR" sz="1200" b="0" i="0" dirty="0">
                <a:effectLst/>
                <a:latin typeface="Menlo"/>
              </a:rPr>
              <a:t>[H1000, ~] = </a:t>
            </a:r>
            <a:r>
              <a:rPr lang="es-AR" sz="1200" b="0" i="0" dirty="0" err="1">
                <a:effectLst/>
                <a:latin typeface="Menlo"/>
              </a:rPr>
              <a:t>freqz</a:t>
            </a:r>
            <a:r>
              <a:rPr lang="es-AR" sz="1200" b="0" i="0" dirty="0">
                <a:effectLst/>
                <a:latin typeface="Menlo"/>
              </a:rPr>
              <a:t>(b1000, 1, 1024, 44100);</a:t>
            </a:r>
          </a:p>
          <a:p>
            <a:endParaRPr lang="es-AR" sz="1200" b="0" i="0" dirty="0">
              <a:effectLst/>
              <a:latin typeface="Menlo"/>
            </a:endParaRPr>
          </a:p>
          <a:p>
            <a:r>
              <a:rPr lang="es-AR" sz="1200" b="0" i="0" dirty="0">
                <a:effectLst/>
                <a:latin typeface="Menlo"/>
              </a:rPr>
              <a:t>figure;</a:t>
            </a:r>
          </a:p>
          <a:p>
            <a:r>
              <a:rPr lang="es-AR" sz="1200" b="0" i="0" dirty="0" err="1">
                <a:effectLst/>
                <a:latin typeface="Menlo"/>
              </a:rPr>
              <a:t>plot</a:t>
            </a:r>
            <a:r>
              <a:rPr lang="es-AR" sz="1200" b="0" i="0" dirty="0">
                <a:effectLst/>
                <a:latin typeface="Menlo"/>
              </a:rPr>
              <a:t>(f, 20*log10(</a:t>
            </a:r>
            <a:r>
              <a:rPr lang="es-AR" sz="1200" b="0" i="0" dirty="0" err="1">
                <a:effectLst/>
                <a:latin typeface="Menlo"/>
              </a:rPr>
              <a:t>abs</a:t>
            </a:r>
            <a:r>
              <a:rPr lang="es-AR" sz="1200" b="0" i="0" dirty="0">
                <a:effectLst/>
                <a:latin typeface="Menlo"/>
              </a:rPr>
              <a:t>(H10)), 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'r'</a:t>
            </a:r>
            <a:r>
              <a:rPr lang="es-AR" sz="1200" b="0" i="0" dirty="0">
                <a:effectLst/>
                <a:latin typeface="Menlo"/>
              </a:rPr>
              <a:t>); </a:t>
            </a:r>
            <a:r>
              <a:rPr lang="es-AR" sz="1200" b="0" i="0" dirty="0" err="1">
                <a:effectLst/>
                <a:latin typeface="Menlo"/>
              </a:rPr>
              <a:t>hold</a:t>
            </a:r>
            <a:r>
              <a:rPr lang="es-AR" sz="1200" b="0" i="0" dirty="0">
                <a:effectLst/>
                <a:latin typeface="Menlo"/>
              </a:rPr>
              <a:t> </a:t>
            </a:r>
            <a:r>
              <a:rPr lang="es-AR" sz="1200" b="0" i="0" dirty="0" err="1">
                <a:solidFill>
                  <a:srgbClr val="A709F5"/>
                </a:solidFill>
                <a:effectLst/>
                <a:latin typeface="Menlo"/>
              </a:rPr>
              <a:t>on</a:t>
            </a:r>
            <a:r>
              <a:rPr lang="es-AR" sz="1200" b="0" i="0" dirty="0">
                <a:effectLst/>
                <a:latin typeface="Menlo"/>
              </a:rPr>
              <a:t>;</a:t>
            </a:r>
          </a:p>
          <a:p>
            <a:r>
              <a:rPr lang="es-AR" sz="1200" b="0" i="0" dirty="0" err="1">
                <a:effectLst/>
                <a:latin typeface="Menlo"/>
              </a:rPr>
              <a:t>plot</a:t>
            </a:r>
            <a:r>
              <a:rPr lang="es-AR" sz="1200" b="0" i="0" dirty="0">
                <a:effectLst/>
                <a:latin typeface="Menlo"/>
              </a:rPr>
              <a:t>(f, 20*log10(</a:t>
            </a:r>
            <a:r>
              <a:rPr lang="es-AR" sz="1200" b="0" i="0" dirty="0" err="1">
                <a:effectLst/>
                <a:latin typeface="Menlo"/>
              </a:rPr>
              <a:t>abs</a:t>
            </a:r>
            <a:r>
              <a:rPr lang="es-AR" sz="1200" b="0" i="0" dirty="0">
                <a:effectLst/>
                <a:latin typeface="Menlo"/>
              </a:rPr>
              <a:t>(H100)), 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'b'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  <a:p>
            <a:r>
              <a:rPr lang="es-AR" sz="1200" b="0" i="0" dirty="0" err="1">
                <a:effectLst/>
                <a:latin typeface="Menlo"/>
              </a:rPr>
              <a:t>plot</a:t>
            </a:r>
            <a:r>
              <a:rPr lang="es-AR" sz="1200" b="0" i="0" dirty="0">
                <a:effectLst/>
                <a:latin typeface="Menlo"/>
              </a:rPr>
              <a:t>(f, 20*log10(</a:t>
            </a:r>
            <a:r>
              <a:rPr lang="es-AR" sz="1200" b="0" i="0" dirty="0" err="1">
                <a:effectLst/>
                <a:latin typeface="Menlo"/>
              </a:rPr>
              <a:t>abs</a:t>
            </a:r>
            <a:r>
              <a:rPr lang="es-AR" sz="1200" b="0" i="0" dirty="0">
                <a:effectLst/>
                <a:latin typeface="Menlo"/>
              </a:rPr>
              <a:t>(H1000)), 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'g'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  <a:p>
            <a:r>
              <a:rPr lang="es-AR" sz="1200" b="0" i="0" dirty="0" err="1">
                <a:effectLst/>
                <a:latin typeface="Menlo"/>
              </a:rPr>
              <a:t>legend</a:t>
            </a:r>
            <a:r>
              <a:rPr lang="es-AR" sz="1200" b="0" i="0" dirty="0">
                <a:effectLst/>
                <a:latin typeface="Menlo"/>
              </a:rPr>
              <a:t>(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'N=10'</a:t>
            </a:r>
            <a:r>
              <a:rPr lang="es-AR" sz="1200" b="0" i="0" dirty="0">
                <a:effectLst/>
                <a:latin typeface="Menlo"/>
              </a:rPr>
              <a:t>, 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'N=100'</a:t>
            </a:r>
            <a:r>
              <a:rPr lang="es-AR" sz="1200" b="0" i="0" dirty="0">
                <a:effectLst/>
                <a:latin typeface="Menlo"/>
              </a:rPr>
              <a:t>, 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'N=1000'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  <a:p>
            <a:r>
              <a:rPr lang="es-AR" sz="1200" b="0" i="0" dirty="0" err="1">
                <a:effectLst/>
                <a:latin typeface="Menlo"/>
              </a:rPr>
              <a:t>grid</a:t>
            </a:r>
            <a:r>
              <a:rPr lang="es-AR" sz="1200" b="0" i="0" dirty="0">
                <a:effectLst/>
                <a:latin typeface="Menlo"/>
              </a:rPr>
              <a:t> </a:t>
            </a:r>
            <a:r>
              <a:rPr lang="es-AR" sz="1200" b="0" i="0" dirty="0" err="1">
                <a:solidFill>
                  <a:srgbClr val="A709F5"/>
                </a:solidFill>
                <a:effectLst/>
                <a:latin typeface="Menlo"/>
              </a:rPr>
              <a:t>on</a:t>
            </a:r>
            <a:r>
              <a:rPr lang="es-AR" sz="1200" b="0" i="0" dirty="0">
                <a:effectLst/>
                <a:latin typeface="Menlo"/>
              </a:rPr>
              <a:t>;</a:t>
            </a:r>
          </a:p>
          <a:p>
            <a:r>
              <a:rPr lang="es-AR" sz="1200" b="0" i="0" dirty="0" err="1">
                <a:effectLst/>
                <a:latin typeface="Menlo"/>
              </a:rPr>
              <a:t>xlabel</a:t>
            </a:r>
            <a:r>
              <a:rPr lang="es-AR" sz="1200" b="0" i="0" dirty="0">
                <a:effectLst/>
                <a:latin typeface="Menlo"/>
              </a:rPr>
              <a:t>(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'Frecuencia [Hz]'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  <a:p>
            <a:r>
              <a:rPr lang="es-AR" sz="1200" b="0" i="0" dirty="0" err="1">
                <a:effectLst/>
                <a:latin typeface="Menlo"/>
              </a:rPr>
              <a:t>ylabel</a:t>
            </a:r>
            <a:r>
              <a:rPr lang="es-AR" sz="1200" b="0" i="0" dirty="0">
                <a:effectLst/>
                <a:latin typeface="Menlo"/>
              </a:rPr>
              <a:t>(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'Magnitud [dB]'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  <a:p>
            <a:r>
              <a:rPr lang="es-AR" sz="1200" b="0" i="0" dirty="0" err="1">
                <a:effectLst/>
                <a:latin typeface="Menlo"/>
              </a:rPr>
              <a:t>title</a:t>
            </a:r>
            <a:r>
              <a:rPr lang="es-AR" sz="1200" b="0" i="0" dirty="0">
                <a:effectLst/>
                <a:latin typeface="Menlo"/>
              </a:rPr>
              <a:t>(</a:t>
            </a:r>
            <a:r>
              <a:rPr lang="es-AR" sz="1200" b="0" i="0" dirty="0">
                <a:solidFill>
                  <a:srgbClr val="A709F5"/>
                </a:solidFill>
                <a:effectLst/>
                <a:latin typeface="Menlo"/>
              </a:rPr>
              <a:t>'Respuesta en frecuencia: N=10 vs N=100 vs N=1000'</a:t>
            </a:r>
            <a:r>
              <a:rPr lang="es-AR" sz="1200" b="0" i="0" dirty="0">
                <a:effectLst/>
                <a:latin typeface="Menlo"/>
              </a:rPr>
              <a:t>);</a:t>
            </a:r>
          </a:p>
        </p:txBody>
      </p:sp>
      <p:sp>
        <p:nvSpPr>
          <p:cNvPr id="23" name="Text 21"/>
          <p:cNvSpPr/>
          <p:nvPr/>
        </p:nvSpPr>
        <p:spPr>
          <a:xfrm>
            <a:off x="457200" y="8046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filtro_pto4.m  (generado por filterDesigner)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6893" y="1421892"/>
            <a:ext cx="4114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76932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b): Respuesta en Frecuencia — N = 10 vs N = 100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45788" y="477039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AR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el orden genera una banda de transición más estrecha y mayor atenuación en la banda suprimida, aunque con un mayor ripple en la misma.</a:t>
            </a:r>
            <a:endParaRPr lang="es-AR" sz="115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943E2BD9-FFDA-4094-8328-C35DA9860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90" y="611766"/>
            <a:ext cx="7601419" cy="41586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s-AR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d–f: Aplicación del Filtro y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635508"/>
            <a:ext cx="5394960" cy="4431792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76072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Tp5_ej4.m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881126"/>
            <a:ext cx="52120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clc; clear; close all;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load('Tchaikovsky.mat');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 = Fs;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signal(:,1);   % canal 1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d) Crear el filtro</a:t>
            </a:r>
            <a:endParaRPr lang="en-US" sz="1000" dirty="0"/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filtro_pto4; </a:t>
            </a:r>
          </a:p>
          <a:p>
            <a:endParaRPr lang="en-US" sz="1000" dirty="0">
              <a:solidFill>
                <a:srgbClr val="1A3060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e) Aplicar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 err="1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filtro</a:t>
            </a:r>
            <a:endParaRPr lang="en-US" sz="1000" dirty="0"/>
          </a:p>
          <a:p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b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Hd.Numerator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;</a:t>
            </a:r>
          </a:p>
          <a:p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x_filtered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 = </a:t>
            </a:r>
            <a:r>
              <a:rPr lang="es-AR" sz="1000" dirty="0" err="1">
                <a:solidFill>
                  <a:srgbClr val="1A3060"/>
                </a:solidFill>
                <a:latin typeface="Consolas" pitchFamily="34" charset="0"/>
              </a:rPr>
              <a:t>filter</a:t>
            </a:r>
            <a:r>
              <a:rPr lang="es-AR" sz="1000" dirty="0">
                <a:solidFill>
                  <a:srgbClr val="1A3060"/>
                </a:solidFill>
                <a:latin typeface="Consolas" pitchFamily="34" charset="0"/>
              </a:rPr>
              <a:t>(b, 1, x);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f) Graficar espectros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[f_orig, mag_orig] = my_dft(x,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[f_filt, mag_filt] = my_dft(x_filtered, fs);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figure;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plot(f_orig, mag_orig, 'b'); hold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plot(f_filt, mag_filt, 'r');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on;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legend('Original','Filtrada');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xlabel('Frecuencia [Hz]');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ylabel('Magnitud');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title('Espectros');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xlim([0 4000]);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h) Reproducir audio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sound(x, fs)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A30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sound(x_filtered, fs)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9320" y="749808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749808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19088" y="8046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Tchaikovsky.mat y seleccionar canal 1.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1728216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1728216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9088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filtro con filter(Hd, x). El objeto dfilt es compatible con filter().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706624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2706624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19088" y="27614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y graficar los espectros con my_dft().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3685032"/>
            <a:ext cx="2834640" cy="841248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  <a:effectLst>
            <a:outerShdw blurRad="38100" dist="12700" dir="8100000" algn="bl" rotWithShape="0">
              <a:srgbClr val="99999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685032"/>
            <a:ext cx="365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19088" y="3739896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señal original y filtrada con sound().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g): Espectros — Señal Original vs. Filtrada</a:t>
            </a:r>
            <a:endParaRPr lang="en-US" sz="2000" dirty="0"/>
          </a:p>
        </p:txBody>
      </p:sp>
      <p:pic>
        <p:nvPicPr>
          <p:cNvPr id="4" name="Image 0" descr="/mnt/user-data/uploads/177610677254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4360"/>
            <a:ext cx="3018815" cy="22773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713232"/>
            <a:ext cx="2743200" cy="3931920"/>
          </a:xfrm>
          <a:prstGeom prst="rect">
            <a:avLst/>
          </a:prstGeom>
          <a:solidFill>
            <a:srgbClr val="EEEE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0" y="777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Observaciones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17920" y="1371600"/>
            <a:ext cx="109728" cy="320040"/>
          </a:xfrm>
          <a:prstGeom prst="rect">
            <a:avLst/>
          </a:prstGeom>
          <a:solidFill>
            <a:srgbClr val="2255CC"/>
          </a:solidFill>
          <a:ln w="12700">
            <a:solidFill>
              <a:srgbClr val="2255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12344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original (azul): contiene componentes en todo el rango 0–4 kHz.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2029968"/>
            <a:ext cx="109728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892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filtrada (roja): componentes por debajo de 300 Hz eliminadas.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17920" y="2688336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55117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preserva la banda 300–3400 Hz con mínima distorsión.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3346704"/>
            <a:ext cx="109728" cy="3200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32095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componentes por encima de 3.4 kHz están muy atenuadas.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4005072"/>
            <a:ext cx="109728" cy="320040"/>
          </a:xfrm>
          <a:prstGeom prst="rect">
            <a:avLst/>
          </a:prstGeom>
          <a:solidFill>
            <a:srgbClr val="2A7A4B"/>
          </a:solidFill>
          <a:ln w="12700">
            <a:solidFill>
              <a:srgbClr val="2A7A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86791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Kaiser (β=7.5) logra alta atenuación con baja ondulación.</a:t>
            </a:r>
            <a:endParaRPr lang="en-US" sz="11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14347BE-598A-4293-98F8-A267EBA437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9" y="2857501"/>
            <a:ext cx="2980572" cy="2277352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0A3D2A2-4A7C-49C0-B1B9-0BA443FC0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1" y="2857502"/>
            <a:ext cx="2904449" cy="2277352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56DD4B48-1069-4FBF-A759-6219DAE89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15" y="613516"/>
            <a:ext cx="2954037" cy="224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949</Words>
  <Application>Microsoft Office PowerPoint</Application>
  <PresentationFormat>Presentación en pantalla (16:9)</PresentationFormat>
  <Paragraphs>132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Consolas</vt:lpstr>
      <vt:lpstr>Menlo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TP5 - Ejercicio 4: Filtrado por Ventanas en MATLAB</dc:title>
  <dc:subject>PptxGenJS Presentation</dc:subject>
  <dc:creator>PptxGenJS</dc:creator>
  <cp:lastModifiedBy>juan</cp:lastModifiedBy>
  <cp:revision>10</cp:revision>
  <dcterms:created xsi:type="dcterms:W3CDTF">2026-04-13T19:02:41Z</dcterms:created>
  <dcterms:modified xsi:type="dcterms:W3CDTF">2026-04-14T15:53:25Z</dcterms:modified>
</cp:coreProperties>
</file>